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84" r:id="rId6"/>
    <p:sldId id="279" r:id="rId7"/>
    <p:sldId id="261" r:id="rId8"/>
    <p:sldId id="280" r:id="rId9"/>
    <p:sldId id="281" r:id="rId10"/>
    <p:sldId id="273" r:id="rId11"/>
    <p:sldId id="283" r:id="rId12"/>
    <p:sldId id="285" r:id="rId13"/>
    <p:sldId id="286" r:id="rId14"/>
    <p:sldId id="287" r:id="rId15"/>
    <p:sldId id="288" r:id="rId16"/>
    <p:sldId id="282" r:id="rId17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(MS) Bold" panose="020B0604020202020204" charset="0"/>
      <p:regular r:id="rId22"/>
    </p:embeddedFont>
    <p:embeddedFont>
      <p:font typeface="Century Gothic Paneurope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22" autoAdjust="0"/>
  </p:normalViewPr>
  <p:slideViewPr>
    <p:cSldViewPr>
      <p:cViewPr varScale="1">
        <p:scale>
          <a:sx n="82" d="100"/>
          <a:sy n="82" d="100"/>
        </p:scale>
        <p:origin x="509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jpeg"/><Relationship Id="rId2" Type="http://schemas.openxmlformats.org/officeDocument/2006/relationships/image" Target="../media/image1.jpeg"/><Relationship Id="rId16" Type="http://schemas.openxmlformats.org/officeDocument/2006/relationships/image" Target="../media/image19.sv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24" Type="http://schemas.openxmlformats.org/officeDocument/2006/relationships/image" Target="../media/image27.svg"/><Relationship Id="rId5" Type="http://schemas.openxmlformats.org/officeDocument/2006/relationships/image" Target="../media/image8.jpe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svg"/><Relationship Id="rId9" Type="http://schemas.openxmlformats.org/officeDocument/2006/relationships/image" Target="../media/image12.svg"/><Relationship Id="rId14" Type="http://schemas.openxmlformats.org/officeDocument/2006/relationships/image" Target="../media/image17.svg"/><Relationship Id="rId22" Type="http://schemas.openxmlformats.org/officeDocument/2006/relationships/image" Target="../media/image2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2.svg"/><Relationship Id="rId3" Type="http://schemas.openxmlformats.org/officeDocument/2006/relationships/image" Target="../media/image28.png"/><Relationship Id="rId21" Type="http://schemas.openxmlformats.org/officeDocument/2006/relationships/image" Target="../media/image45.sv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9.png"/><Relationship Id="rId2" Type="http://schemas.openxmlformats.org/officeDocument/2006/relationships/image" Target="../media/image1.jpeg"/><Relationship Id="rId16" Type="http://schemas.openxmlformats.org/officeDocument/2006/relationships/image" Target="../media/image41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17.svg"/><Relationship Id="rId10" Type="http://schemas.openxmlformats.org/officeDocument/2006/relationships/image" Target="../media/image35.png"/><Relationship Id="rId19" Type="http://schemas.openxmlformats.org/officeDocument/2006/relationships/image" Target="../media/image43.jpe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sv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21" Type="http://schemas.openxmlformats.org/officeDocument/2006/relationships/image" Target="../media/image64.svg"/><Relationship Id="rId7" Type="http://schemas.openxmlformats.org/officeDocument/2006/relationships/image" Target="../media/image50.sv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1.jpe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png"/><Relationship Id="rId15" Type="http://schemas.openxmlformats.org/officeDocument/2006/relationships/image" Target="../media/image58.svg"/><Relationship Id="rId23" Type="http://schemas.openxmlformats.org/officeDocument/2006/relationships/image" Target="../media/image66.sv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image" Target="../media/image82.svg"/><Relationship Id="rId26" Type="http://schemas.openxmlformats.org/officeDocument/2006/relationships/image" Target="../media/image90.sv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34" Type="http://schemas.openxmlformats.org/officeDocument/2006/relationships/image" Target="../media/image98.sv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33" Type="http://schemas.openxmlformats.org/officeDocument/2006/relationships/image" Target="../media/image97.png"/><Relationship Id="rId2" Type="http://schemas.openxmlformats.org/officeDocument/2006/relationships/image" Target="../media/image1.jpe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svg"/><Relationship Id="rId11" Type="http://schemas.openxmlformats.org/officeDocument/2006/relationships/image" Target="../media/image75.svg"/><Relationship Id="rId24" Type="http://schemas.openxmlformats.org/officeDocument/2006/relationships/image" Target="../media/image88.png"/><Relationship Id="rId32" Type="http://schemas.openxmlformats.org/officeDocument/2006/relationships/image" Target="../media/image96.svg"/><Relationship Id="rId5" Type="http://schemas.openxmlformats.org/officeDocument/2006/relationships/image" Target="../media/image69.png"/><Relationship Id="rId15" Type="http://schemas.openxmlformats.org/officeDocument/2006/relationships/image" Target="../media/image79.svg"/><Relationship Id="rId23" Type="http://schemas.openxmlformats.org/officeDocument/2006/relationships/image" Target="../media/image87.svg"/><Relationship Id="rId28" Type="http://schemas.openxmlformats.org/officeDocument/2006/relationships/image" Target="../media/image92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31" Type="http://schemas.openxmlformats.org/officeDocument/2006/relationships/image" Target="../media/image95.png"/><Relationship Id="rId4" Type="http://schemas.openxmlformats.org/officeDocument/2006/relationships/image" Target="../media/image68.sv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Relationship Id="rId8" Type="http://schemas.openxmlformats.org/officeDocument/2006/relationships/image" Target="../media/image7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sv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svg"/><Relationship Id="rId9" Type="http://schemas.openxmlformats.org/officeDocument/2006/relationships/image" Target="../media/image105.png"/><Relationship Id="rId14" Type="http://schemas.openxmlformats.org/officeDocument/2006/relationships/image" Target="../media/image1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svg"/><Relationship Id="rId18" Type="http://schemas.openxmlformats.org/officeDocument/2006/relationships/image" Target="../media/image127.svg"/><Relationship Id="rId3" Type="http://schemas.openxmlformats.org/officeDocument/2006/relationships/image" Target="../media/image112.jpeg"/><Relationship Id="rId21" Type="http://schemas.openxmlformats.org/officeDocument/2006/relationships/image" Target="../media/image130.jpeg"/><Relationship Id="rId7" Type="http://schemas.openxmlformats.org/officeDocument/2006/relationships/image" Target="../media/image116.jpeg"/><Relationship Id="rId12" Type="http://schemas.openxmlformats.org/officeDocument/2006/relationships/image" Target="../media/image121.png"/><Relationship Id="rId17" Type="http://schemas.openxmlformats.org/officeDocument/2006/relationships/image" Target="../media/image126.svg"/><Relationship Id="rId2" Type="http://schemas.openxmlformats.org/officeDocument/2006/relationships/image" Target="../media/image1.jpeg"/><Relationship Id="rId16" Type="http://schemas.openxmlformats.org/officeDocument/2006/relationships/image" Target="../media/image125.png"/><Relationship Id="rId20" Type="http://schemas.openxmlformats.org/officeDocument/2006/relationships/image" Target="../media/image1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jpeg"/><Relationship Id="rId11" Type="http://schemas.openxmlformats.org/officeDocument/2006/relationships/image" Target="../media/image120.svg"/><Relationship Id="rId5" Type="http://schemas.openxmlformats.org/officeDocument/2006/relationships/image" Target="../media/image114.jpeg"/><Relationship Id="rId15" Type="http://schemas.openxmlformats.org/officeDocument/2006/relationships/image" Target="../media/image124.sv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3.jpeg"/><Relationship Id="rId9" Type="http://schemas.openxmlformats.org/officeDocument/2006/relationships/image" Target="../media/image118.svg"/><Relationship Id="rId14" Type="http://schemas.openxmlformats.org/officeDocument/2006/relationships/image" Target="../media/image1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sv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9" Type="http://schemas.openxmlformats.org/officeDocument/2006/relationships/image" Target="../media/image174.png"/><Relationship Id="rId21" Type="http://schemas.openxmlformats.org/officeDocument/2006/relationships/image" Target="../media/image156.png"/><Relationship Id="rId34" Type="http://schemas.openxmlformats.org/officeDocument/2006/relationships/image" Target="../media/image169.svg"/><Relationship Id="rId42" Type="http://schemas.openxmlformats.org/officeDocument/2006/relationships/image" Target="../media/image177.png"/><Relationship Id="rId7" Type="http://schemas.openxmlformats.org/officeDocument/2006/relationships/image" Target="../media/image142.png"/><Relationship Id="rId2" Type="http://schemas.openxmlformats.org/officeDocument/2006/relationships/image" Target="../media/image1.jpeg"/><Relationship Id="rId16" Type="http://schemas.openxmlformats.org/officeDocument/2006/relationships/image" Target="../media/image151.png"/><Relationship Id="rId20" Type="http://schemas.openxmlformats.org/officeDocument/2006/relationships/image" Target="../media/image155.svg"/><Relationship Id="rId29" Type="http://schemas.openxmlformats.org/officeDocument/2006/relationships/image" Target="../media/image164.png"/><Relationship Id="rId41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svg"/><Relationship Id="rId11" Type="http://schemas.openxmlformats.org/officeDocument/2006/relationships/image" Target="../media/image146.png"/><Relationship Id="rId24" Type="http://schemas.openxmlformats.org/officeDocument/2006/relationships/image" Target="../media/image159.svg"/><Relationship Id="rId32" Type="http://schemas.openxmlformats.org/officeDocument/2006/relationships/image" Target="../media/image167.png"/><Relationship Id="rId37" Type="http://schemas.openxmlformats.org/officeDocument/2006/relationships/image" Target="../media/image172.png"/><Relationship Id="rId40" Type="http://schemas.openxmlformats.org/officeDocument/2006/relationships/image" Target="../media/image175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1.png"/><Relationship Id="rId10" Type="http://schemas.openxmlformats.org/officeDocument/2006/relationships/image" Target="../media/image145.svg"/><Relationship Id="rId19" Type="http://schemas.openxmlformats.org/officeDocument/2006/relationships/image" Target="../media/image154.png"/><Relationship Id="rId31" Type="http://schemas.openxmlformats.org/officeDocument/2006/relationships/image" Target="../media/image166.svg"/><Relationship Id="rId4" Type="http://schemas.openxmlformats.org/officeDocument/2006/relationships/image" Target="../media/image139.sv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svg"/><Relationship Id="rId30" Type="http://schemas.openxmlformats.org/officeDocument/2006/relationships/image" Target="../media/image165.png"/><Relationship Id="rId35" Type="http://schemas.openxmlformats.org/officeDocument/2006/relationships/image" Target="../media/image170.png"/><Relationship Id="rId8" Type="http://schemas.openxmlformats.org/officeDocument/2006/relationships/image" Target="../media/image143.svg"/><Relationship Id="rId3" Type="http://schemas.openxmlformats.org/officeDocument/2006/relationships/image" Target="../media/image138.png"/><Relationship Id="rId12" Type="http://schemas.openxmlformats.org/officeDocument/2006/relationships/image" Target="../media/image147.png"/><Relationship Id="rId17" Type="http://schemas.openxmlformats.org/officeDocument/2006/relationships/image" Target="../media/image152.svg"/><Relationship Id="rId25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image" Target="../media/image17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svg"/><Relationship Id="rId11" Type="http://schemas.openxmlformats.org/officeDocument/2006/relationships/image" Target="../media/image186.svg"/><Relationship Id="rId5" Type="http://schemas.openxmlformats.org/officeDocument/2006/relationships/image" Target="../media/image180.png"/><Relationship Id="rId10" Type="http://schemas.openxmlformats.org/officeDocument/2006/relationships/image" Target="../media/image185.png"/><Relationship Id="rId4" Type="http://schemas.openxmlformats.org/officeDocument/2006/relationships/image" Target="../media/image179.svg"/><Relationship Id="rId9" Type="http://schemas.openxmlformats.org/officeDocument/2006/relationships/image" Target="../media/image18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09613" y="1721417"/>
            <a:ext cx="9656847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36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Navigating the Future of Urban Farming: </a:t>
            </a:r>
          </a:p>
          <a:p>
            <a:pPr algn="ctr">
              <a:lnSpc>
                <a:spcPts val="3887"/>
              </a:lnSpc>
            </a:pPr>
            <a:r>
              <a:rPr lang="en-US" sz="36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“A Smart Aquaponics Approach”</a:t>
            </a:r>
            <a:endParaRPr lang="en-US" sz="3600" b="1" dirty="0">
              <a:solidFill>
                <a:srgbClr val="7030A0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9D508F-5580-4172-8EB3-D419401A5292}"/>
              </a:ext>
            </a:extLst>
          </p:cNvPr>
          <p:cNvSpPr txBox="1"/>
          <p:nvPr/>
        </p:nvSpPr>
        <p:spPr>
          <a:xfrm>
            <a:off x="2387204" y="175477"/>
            <a:ext cx="74114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University of Asia Pacific</a:t>
            </a:r>
          </a:p>
          <a:p>
            <a:pPr algn="ctr"/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Department of Computer Science and Engineering</a:t>
            </a:r>
          </a:p>
          <a:p>
            <a:pPr algn="ctr"/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Course : BUS 301 | Semester : 3.1 | Section : A</a:t>
            </a:r>
          </a:p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1FFCC4-7BA5-449D-A430-96F83C7387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5477"/>
            <a:ext cx="914400" cy="85795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97F39B9-420E-48A6-87C5-9ACF24C84F15}"/>
              </a:ext>
            </a:extLst>
          </p:cNvPr>
          <p:cNvSpPr txBox="1"/>
          <p:nvPr/>
        </p:nvSpPr>
        <p:spPr>
          <a:xfrm>
            <a:off x="609600" y="3952727"/>
            <a:ext cx="5105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Submitted by :</a:t>
            </a:r>
          </a:p>
          <a:p>
            <a:endParaRPr lang="en-US" sz="2200" dirty="0"/>
          </a:p>
          <a:p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23201009  MD. Momin Ali Rifat</a:t>
            </a:r>
          </a:p>
          <a:p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23201023  MD. </a:t>
            </a:r>
            <a:r>
              <a:rPr lang="en-US" sz="2200" b="1" dirty="0" err="1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Nazmuz</a:t>
            </a:r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Saif</a:t>
            </a:r>
            <a:b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</a:br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23201033  Kamrul Hasan Siam</a:t>
            </a:r>
          </a:p>
          <a:p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23201050  MD. Tahsin Rahman Khan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DBD861-133C-48BD-9012-AFAF61F42649}"/>
              </a:ext>
            </a:extLst>
          </p:cNvPr>
          <p:cNvSpPr txBox="1"/>
          <p:nvPr/>
        </p:nvSpPr>
        <p:spPr>
          <a:xfrm>
            <a:off x="6141086" y="3952727"/>
            <a:ext cx="5410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u="sng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Submitted to:</a:t>
            </a:r>
          </a:p>
          <a:p>
            <a:endParaRPr lang="en-US" sz="2200" b="1" u="sng" dirty="0">
              <a:solidFill>
                <a:srgbClr val="7030A0"/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algn="r"/>
            <a:r>
              <a:rPr lang="en-US" sz="2200" b="1" dirty="0" err="1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Towfiq</a:t>
            </a:r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Ahmed </a:t>
            </a:r>
          </a:p>
          <a:p>
            <a:pPr algn="r"/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Lecturer</a:t>
            </a:r>
          </a:p>
          <a:p>
            <a:pPr algn="r"/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Dept. of Business Administration</a:t>
            </a:r>
          </a:p>
          <a:p>
            <a:pPr algn="r"/>
            <a:r>
              <a:rPr lang="en-US" sz="2200" b="1" dirty="0">
                <a:solidFill>
                  <a:srgbClr val="7030A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University of Asia Pacific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376F46-44DB-4899-B765-03CA695AFA08}"/>
              </a:ext>
            </a:extLst>
          </p:cNvPr>
          <p:cNvGrpSpPr/>
          <p:nvPr/>
        </p:nvGrpSpPr>
        <p:grpSpPr>
          <a:xfrm>
            <a:off x="4618798" y="2456071"/>
            <a:ext cx="3038475" cy="1697345"/>
            <a:chOff x="5546188" y="1914144"/>
            <a:chExt cx="3038475" cy="1697345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93925AF1-ED2B-4AC1-8C83-E9DCD2F8D3E0}"/>
                </a:ext>
              </a:extLst>
            </p:cNvPr>
            <p:cNvSpPr/>
            <p:nvPr/>
          </p:nvSpPr>
          <p:spPr>
            <a:xfrm>
              <a:off x="5546188" y="2199704"/>
              <a:ext cx="3038475" cy="1126226"/>
            </a:xfrm>
            <a:custGeom>
              <a:avLst/>
              <a:gdLst/>
              <a:ahLst/>
              <a:cxnLst/>
              <a:rect l="l" t="t" r="r" b="b"/>
              <a:pathLst>
                <a:path w="3038475" h="1126226">
                  <a:moveTo>
                    <a:pt x="0" y="0"/>
                  </a:moveTo>
                  <a:lnTo>
                    <a:pt x="3038475" y="0"/>
                  </a:lnTo>
                  <a:lnTo>
                    <a:pt x="3038475" y="1126226"/>
                  </a:lnTo>
                  <a:lnTo>
                    <a:pt x="0" y="1126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5">
              <a:extLst>
                <a:ext uri="{FF2B5EF4-FFF2-40B4-BE49-F238E27FC236}">
                  <a16:creationId xmlns:a16="http://schemas.microsoft.com/office/drawing/2014/main" id="{A5FF2474-3CE9-4B43-A0F1-C18E06E45F3D}"/>
                </a:ext>
              </a:extLst>
            </p:cNvPr>
            <p:cNvGrpSpPr/>
            <p:nvPr/>
          </p:nvGrpSpPr>
          <p:grpSpPr>
            <a:xfrm>
              <a:off x="5738174" y="1914144"/>
              <a:ext cx="2654494" cy="1697345"/>
              <a:chOff x="0" y="0"/>
              <a:chExt cx="3539325" cy="2263127"/>
            </a:xfrm>
          </p:grpSpPr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CFC7F583-3393-4CAA-BBCB-47B89CFC49CB}"/>
                  </a:ext>
                </a:extLst>
              </p:cNvPr>
              <p:cNvSpPr/>
              <p:nvPr/>
            </p:nvSpPr>
            <p:spPr>
              <a:xfrm>
                <a:off x="0" y="0"/>
                <a:ext cx="3539363" cy="2263140"/>
              </a:xfrm>
              <a:custGeom>
                <a:avLst/>
                <a:gdLst/>
                <a:ahLst/>
                <a:cxnLst/>
                <a:rect l="l" t="t" r="r" b="b"/>
                <a:pathLst>
                  <a:path w="3539363" h="2263140">
                    <a:moveTo>
                      <a:pt x="0" y="0"/>
                    </a:moveTo>
                    <a:lnTo>
                      <a:pt x="3539363" y="0"/>
                    </a:lnTo>
                    <a:lnTo>
                      <a:pt x="3539363" y="2263140"/>
                    </a:lnTo>
                    <a:lnTo>
                      <a:pt x="0" y="22631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1"/>
                </a:stretch>
              </a:blipFill>
            </p:spPr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7379" y="95345"/>
            <a:ext cx="348196" cy="348539"/>
            <a:chOff x="0" y="0"/>
            <a:chExt cx="348196" cy="348539"/>
          </a:xfrm>
        </p:grpSpPr>
        <p:sp>
          <p:nvSpPr>
            <p:cNvPr id="7" name="Freeform 7"/>
            <p:cNvSpPr/>
            <p:nvPr/>
          </p:nvSpPr>
          <p:spPr>
            <a:xfrm>
              <a:off x="73024" y="73026"/>
              <a:ext cx="202182" cy="202441"/>
            </a:xfrm>
            <a:custGeom>
              <a:avLst/>
              <a:gdLst/>
              <a:ahLst/>
              <a:cxnLst/>
              <a:rect l="l" t="t" r="r" b="b"/>
              <a:pathLst>
                <a:path w="202182" h="202441">
                  <a:moveTo>
                    <a:pt x="0" y="202441"/>
                  </a:moveTo>
                  <a:lnTo>
                    <a:pt x="202182" y="202441"/>
                  </a:lnTo>
                  <a:lnTo>
                    <a:pt x="2021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167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499" y="63501"/>
              <a:ext cx="221231" cy="221491"/>
            </a:xfrm>
            <a:custGeom>
              <a:avLst/>
              <a:gdLst/>
              <a:ahLst/>
              <a:cxnLst/>
              <a:rect l="l" t="t" r="r" b="b"/>
              <a:pathLst>
                <a:path w="221231" h="221491">
                  <a:moveTo>
                    <a:pt x="211707" y="19050"/>
                  </a:moveTo>
                  <a:lnTo>
                    <a:pt x="9525" y="19050"/>
                  </a:lnTo>
                  <a:lnTo>
                    <a:pt x="9525" y="9525"/>
                  </a:lnTo>
                  <a:lnTo>
                    <a:pt x="19050" y="9525"/>
                  </a:lnTo>
                  <a:lnTo>
                    <a:pt x="19050" y="211966"/>
                  </a:lnTo>
                  <a:lnTo>
                    <a:pt x="9525" y="211966"/>
                  </a:lnTo>
                  <a:lnTo>
                    <a:pt x="9525" y="202441"/>
                  </a:lnTo>
                  <a:lnTo>
                    <a:pt x="211707" y="202441"/>
                  </a:lnTo>
                  <a:lnTo>
                    <a:pt x="211707" y="211966"/>
                  </a:lnTo>
                  <a:lnTo>
                    <a:pt x="202182" y="211966"/>
                  </a:lnTo>
                  <a:lnTo>
                    <a:pt x="202182" y="9525"/>
                  </a:lnTo>
                  <a:lnTo>
                    <a:pt x="211707" y="9525"/>
                  </a:lnTo>
                  <a:lnTo>
                    <a:pt x="211707" y="19050"/>
                  </a:lnTo>
                  <a:moveTo>
                    <a:pt x="211707" y="0"/>
                  </a:moveTo>
                  <a:lnTo>
                    <a:pt x="221232" y="0"/>
                  </a:lnTo>
                  <a:lnTo>
                    <a:pt x="221232" y="9525"/>
                  </a:lnTo>
                  <a:lnTo>
                    <a:pt x="221232" y="211966"/>
                  </a:lnTo>
                  <a:lnTo>
                    <a:pt x="221232" y="221491"/>
                  </a:lnTo>
                  <a:lnTo>
                    <a:pt x="211707" y="221491"/>
                  </a:lnTo>
                  <a:lnTo>
                    <a:pt x="9525" y="221491"/>
                  </a:lnTo>
                  <a:lnTo>
                    <a:pt x="0" y="221491"/>
                  </a:lnTo>
                  <a:lnTo>
                    <a:pt x="0" y="211966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211707" y="0"/>
                  </a:lnTo>
                  <a:close/>
                </a:path>
              </a:pathLst>
            </a:custGeom>
            <a:solidFill>
              <a:srgbClr val="37167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44493" y="542954"/>
            <a:ext cx="1620002" cy="38100"/>
            <a:chOff x="0" y="0"/>
            <a:chExt cx="1619999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011" cy="38099"/>
            </a:xfrm>
            <a:custGeom>
              <a:avLst/>
              <a:gdLst/>
              <a:ahLst/>
              <a:cxnLst/>
              <a:rect l="l" t="t" r="r" b="b"/>
              <a:pathLst>
                <a:path w="1620011" h="38099">
                  <a:moveTo>
                    <a:pt x="0" y="0"/>
                  </a:moveTo>
                  <a:lnTo>
                    <a:pt x="1620011" y="0"/>
                  </a:lnTo>
                  <a:lnTo>
                    <a:pt x="1620011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A859E1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5901900" y="498500"/>
            <a:ext cx="5664232" cy="1705927"/>
          </a:xfrm>
          <a:custGeom>
            <a:avLst/>
            <a:gdLst/>
            <a:ahLst/>
            <a:cxnLst/>
            <a:rect l="l" t="t" r="r" b="b"/>
            <a:pathLst>
              <a:path w="5664232" h="1705927">
                <a:moveTo>
                  <a:pt x="0" y="0"/>
                </a:moveTo>
                <a:lnTo>
                  <a:pt x="5664231" y="0"/>
                </a:lnTo>
                <a:lnTo>
                  <a:pt x="5664231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181239" y="699240"/>
            <a:ext cx="2015757" cy="1343844"/>
            <a:chOff x="0" y="0"/>
            <a:chExt cx="2687676" cy="17917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7701" cy="1791843"/>
            </a:xfrm>
            <a:custGeom>
              <a:avLst/>
              <a:gdLst/>
              <a:ahLst/>
              <a:cxnLst/>
              <a:rect l="l" t="t" r="r" b="b"/>
              <a:pathLst>
                <a:path w="2687701" h="1791843">
                  <a:moveTo>
                    <a:pt x="0" y="0"/>
                  </a:moveTo>
                  <a:lnTo>
                    <a:pt x="0" y="1320292"/>
                  </a:lnTo>
                  <a:cubicBezTo>
                    <a:pt x="0" y="1580642"/>
                    <a:pt x="211074" y="1791843"/>
                    <a:pt x="471551" y="1791843"/>
                  </a:cubicBezTo>
                  <a:lnTo>
                    <a:pt x="2687701" y="1791843"/>
                  </a:lnTo>
                  <a:lnTo>
                    <a:pt x="2687701" y="471170"/>
                  </a:lnTo>
                  <a:cubicBezTo>
                    <a:pt x="2687447" y="211074"/>
                    <a:pt x="2476627" y="254"/>
                    <a:pt x="2216531" y="0"/>
                  </a:cubicBezTo>
                  <a:close/>
                </a:path>
              </a:pathLst>
            </a:custGeom>
            <a:blipFill>
              <a:blip r:embed="rId5"/>
              <a:stretch>
                <a:fillRect b="2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437512" y="2054533"/>
            <a:ext cx="1451620" cy="2764403"/>
          </a:xfrm>
          <a:custGeom>
            <a:avLst/>
            <a:gdLst/>
            <a:ahLst/>
            <a:cxnLst/>
            <a:rect l="l" t="t" r="r" b="b"/>
            <a:pathLst>
              <a:path w="1451620" h="2764403">
                <a:moveTo>
                  <a:pt x="0" y="0"/>
                </a:moveTo>
                <a:lnTo>
                  <a:pt x="1451619" y="0"/>
                </a:lnTo>
                <a:lnTo>
                  <a:pt x="1451619" y="2764403"/>
                </a:lnTo>
                <a:lnTo>
                  <a:pt x="0" y="2764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961021" y="2632100"/>
            <a:ext cx="322183" cy="322183"/>
          </a:xfrm>
          <a:custGeom>
            <a:avLst/>
            <a:gdLst/>
            <a:ahLst/>
            <a:cxnLst/>
            <a:rect l="l" t="t" r="r" b="b"/>
            <a:pathLst>
              <a:path w="322183" h="322183">
                <a:moveTo>
                  <a:pt x="0" y="0"/>
                </a:moveTo>
                <a:lnTo>
                  <a:pt x="322183" y="0"/>
                </a:lnTo>
                <a:lnTo>
                  <a:pt x="322183" y="322184"/>
                </a:lnTo>
                <a:lnTo>
                  <a:pt x="0" y="322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003865" y="498500"/>
            <a:ext cx="2285219" cy="1636652"/>
          </a:xfrm>
          <a:custGeom>
            <a:avLst/>
            <a:gdLst/>
            <a:ahLst/>
            <a:cxnLst/>
            <a:rect l="l" t="t" r="r" b="b"/>
            <a:pathLst>
              <a:path w="2285219" h="1636652">
                <a:moveTo>
                  <a:pt x="0" y="0"/>
                </a:moveTo>
                <a:lnTo>
                  <a:pt x="2285219" y="0"/>
                </a:lnTo>
                <a:lnTo>
                  <a:pt x="2285219" y="1636653"/>
                </a:lnTo>
                <a:lnTo>
                  <a:pt x="0" y="1636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549002" y="2194227"/>
            <a:ext cx="2469547" cy="2469547"/>
            <a:chOff x="0" y="0"/>
            <a:chExt cx="3292729" cy="329272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92729" cy="3292729"/>
            </a:xfrm>
            <a:custGeom>
              <a:avLst/>
              <a:gdLst/>
              <a:ahLst/>
              <a:cxnLst/>
              <a:rect l="l" t="t" r="r" b="b"/>
              <a:pathLst>
                <a:path w="3292729" h="3292729">
                  <a:moveTo>
                    <a:pt x="129540" y="0"/>
                  </a:moveTo>
                  <a:cubicBezTo>
                    <a:pt x="58039" y="0"/>
                    <a:pt x="0" y="58039"/>
                    <a:pt x="0" y="129540"/>
                  </a:cubicBezTo>
                  <a:lnTo>
                    <a:pt x="0" y="3163189"/>
                  </a:lnTo>
                  <a:cubicBezTo>
                    <a:pt x="0" y="3234690"/>
                    <a:pt x="58039" y="3292729"/>
                    <a:pt x="129540" y="3292729"/>
                  </a:cubicBezTo>
                  <a:lnTo>
                    <a:pt x="3163189" y="3292729"/>
                  </a:lnTo>
                  <a:cubicBezTo>
                    <a:pt x="3234690" y="3292729"/>
                    <a:pt x="3292729" y="3234690"/>
                    <a:pt x="3292729" y="3163189"/>
                  </a:cubicBezTo>
                  <a:lnTo>
                    <a:pt x="3292729" y="129540"/>
                  </a:lnTo>
                  <a:cubicBezTo>
                    <a:pt x="3292729" y="58039"/>
                    <a:pt x="3234690" y="0"/>
                    <a:pt x="3163189" y="0"/>
                  </a:cubicBez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510902" y="2156127"/>
            <a:ext cx="2545747" cy="2545747"/>
          </a:xfrm>
          <a:custGeom>
            <a:avLst/>
            <a:gdLst/>
            <a:ahLst/>
            <a:cxnLst/>
            <a:rect l="l" t="t" r="r" b="b"/>
            <a:pathLst>
              <a:path w="2545747" h="2545747">
                <a:moveTo>
                  <a:pt x="0" y="0"/>
                </a:moveTo>
                <a:lnTo>
                  <a:pt x="2545747" y="0"/>
                </a:lnTo>
                <a:lnTo>
                  <a:pt x="2545747" y="2545746"/>
                </a:lnTo>
                <a:lnTo>
                  <a:pt x="0" y="25457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183007" y="395583"/>
            <a:ext cx="8378752" cy="4706588"/>
          </a:xfrm>
          <a:custGeom>
            <a:avLst/>
            <a:gdLst/>
            <a:ahLst/>
            <a:cxnLst/>
            <a:rect l="l" t="t" r="r" b="b"/>
            <a:pathLst>
              <a:path w="8378752" h="4706588">
                <a:moveTo>
                  <a:pt x="0" y="0"/>
                </a:moveTo>
                <a:lnTo>
                  <a:pt x="8378752" y="0"/>
                </a:lnTo>
                <a:lnTo>
                  <a:pt x="8378752" y="4706588"/>
                </a:lnTo>
                <a:lnTo>
                  <a:pt x="0" y="47065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6212834" y="2755306"/>
            <a:ext cx="1990382" cy="1326632"/>
            <a:chOff x="0" y="0"/>
            <a:chExt cx="2653843" cy="17688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53792" cy="1768856"/>
            </a:xfrm>
            <a:custGeom>
              <a:avLst/>
              <a:gdLst/>
              <a:ahLst/>
              <a:cxnLst/>
              <a:rect l="l" t="t" r="r" b="b"/>
              <a:pathLst>
                <a:path w="2653792" h="1768856">
                  <a:moveTo>
                    <a:pt x="0" y="0"/>
                  </a:moveTo>
                  <a:lnTo>
                    <a:pt x="0" y="1381506"/>
                  </a:lnTo>
                  <a:cubicBezTo>
                    <a:pt x="0" y="1595501"/>
                    <a:pt x="173482" y="1768856"/>
                    <a:pt x="387350" y="1768856"/>
                  </a:cubicBezTo>
                  <a:lnTo>
                    <a:pt x="2653792" y="1768856"/>
                  </a:lnTo>
                  <a:lnTo>
                    <a:pt x="2653792" y="386969"/>
                  </a:lnTo>
                  <a:cubicBezTo>
                    <a:pt x="2653665" y="173609"/>
                    <a:pt x="2480945" y="635"/>
                    <a:pt x="2267585" y="0"/>
                  </a:cubicBezTo>
                  <a:close/>
                </a:path>
              </a:pathLst>
            </a:custGeom>
            <a:blipFill>
              <a:blip r:embed="rId17"/>
              <a:stretch>
                <a:fillRect r="-1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6003865" y="4931350"/>
            <a:ext cx="5557895" cy="1413272"/>
          </a:xfrm>
          <a:custGeom>
            <a:avLst/>
            <a:gdLst/>
            <a:ahLst/>
            <a:cxnLst/>
            <a:rect l="l" t="t" r="r" b="b"/>
            <a:pathLst>
              <a:path w="5557895" h="1413272">
                <a:moveTo>
                  <a:pt x="0" y="0"/>
                </a:moveTo>
                <a:lnTo>
                  <a:pt x="5557894" y="0"/>
                </a:lnTo>
                <a:lnTo>
                  <a:pt x="5557894" y="1413272"/>
                </a:lnTo>
                <a:lnTo>
                  <a:pt x="0" y="14132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184259" y="2726731"/>
            <a:ext cx="2047532" cy="1383782"/>
          </a:xfrm>
          <a:custGeom>
            <a:avLst/>
            <a:gdLst/>
            <a:ahLst/>
            <a:cxnLst/>
            <a:rect l="l" t="t" r="r" b="b"/>
            <a:pathLst>
              <a:path w="2047532" h="1383782">
                <a:moveTo>
                  <a:pt x="0" y="0"/>
                </a:moveTo>
                <a:lnTo>
                  <a:pt x="2047532" y="0"/>
                </a:lnTo>
                <a:lnTo>
                  <a:pt x="2047532" y="1383783"/>
                </a:lnTo>
                <a:lnTo>
                  <a:pt x="0" y="13837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6212834" y="4836004"/>
            <a:ext cx="1984134" cy="1322756"/>
            <a:chOff x="0" y="0"/>
            <a:chExt cx="2645512" cy="17636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45537" cy="1763649"/>
            </a:xfrm>
            <a:custGeom>
              <a:avLst/>
              <a:gdLst/>
              <a:ahLst/>
              <a:cxnLst/>
              <a:rect l="l" t="t" r="r" b="b"/>
              <a:pathLst>
                <a:path w="2645537" h="1763649">
                  <a:moveTo>
                    <a:pt x="0" y="0"/>
                  </a:moveTo>
                  <a:lnTo>
                    <a:pt x="0" y="1357249"/>
                  </a:lnTo>
                  <a:cubicBezTo>
                    <a:pt x="0" y="1581658"/>
                    <a:pt x="181991" y="1763649"/>
                    <a:pt x="406400" y="1763649"/>
                  </a:cubicBezTo>
                  <a:lnTo>
                    <a:pt x="2645537" y="1763649"/>
                  </a:lnTo>
                  <a:lnTo>
                    <a:pt x="2645537" y="406400"/>
                  </a:lnTo>
                  <a:cubicBezTo>
                    <a:pt x="2645537" y="181991"/>
                    <a:pt x="2463546" y="0"/>
                    <a:pt x="2239137" y="0"/>
                  </a:cubicBezTo>
                  <a:close/>
                </a:path>
              </a:pathLst>
            </a:custGeom>
            <a:blipFill>
              <a:blip r:embed="rId22"/>
              <a:stretch>
                <a:fillRect b="-1"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>
            <a:off x="6184259" y="4807429"/>
            <a:ext cx="2041284" cy="1379906"/>
          </a:xfrm>
          <a:custGeom>
            <a:avLst/>
            <a:gdLst/>
            <a:ahLst/>
            <a:cxnLst/>
            <a:rect l="l" t="t" r="r" b="b"/>
            <a:pathLst>
              <a:path w="2041284" h="1379906">
                <a:moveTo>
                  <a:pt x="0" y="0"/>
                </a:moveTo>
                <a:lnTo>
                  <a:pt x="2041283" y="0"/>
                </a:lnTo>
                <a:lnTo>
                  <a:pt x="2041283" y="1379906"/>
                </a:lnTo>
                <a:lnTo>
                  <a:pt x="0" y="1379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54047" y="-18640"/>
            <a:ext cx="1657950" cy="55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Problem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2688" y="4877486"/>
            <a:ext cx="2205704" cy="306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1"/>
              </a:lnSpc>
            </a:pPr>
            <a:r>
              <a:rPr lang="en-US" sz="1999" dirty="0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Salma, </a:t>
            </a:r>
            <a:r>
              <a:rPr lang="en-US" sz="1999" dirty="0">
                <a:solidFill>
                  <a:srgbClr val="ED712E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Consumer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3388" y="5170189"/>
            <a:ext cx="57417" cy="2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7"/>
              </a:lnSpc>
            </a:pPr>
            <a:r>
              <a:rPr lang="en-US" sz="15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22612" y="1313171"/>
            <a:ext cx="2271170" cy="33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Food Adulteration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36023" y="5432997"/>
            <a:ext cx="2644350" cy="33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Increased Price Hikes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24347" y="3353551"/>
            <a:ext cx="2867701" cy="33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Declining Avg. Income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7960" y="5141614"/>
            <a:ext cx="2113636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(A</a:t>
            </a: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5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garment’s</a:t>
            </a: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5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worker)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357290" y="5264668"/>
            <a:ext cx="4107513" cy="1088479"/>
          </a:xfrm>
          <a:custGeom>
            <a:avLst/>
            <a:gdLst/>
            <a:ahLst/>
            <a:cxnLst/>
            <a:rect l="l" t="t" r="r" b="b"/>
            <a:pathLst>
              <a:path w="4107513" h="1088479">
                <a:moveTo>
                  <a:pt x="0" y="0"/>
                </a:moveTo>
                <a:lnTo>
                  <a:pt x="4107513" y="0"/>
                </a:lnTo>
                <a:lnTo>
                  <a:pt x="4107513" y="1088478"/>
                </a:lnTo>
                <a:lnTo>
                  <a:pt x="0" y="1088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937248" y="5547360"/>
            <a:ext cx="505968" cy="545592"/>
            <a:chOff x="0" y="0"/>
            <a:chExt cx="674624" cy="7274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4624" cy="727456"/>
            </a:xfrm>
            <a:custGeom>
              <a:avLst/>
              <a:gdLst/>
              <a:ahLst/>
              <a:cxnLst/>
              <a:rect l="l" t="t" r="r" b="b"/>
              <a:pathLst>
                <a:path w="674624" h="727456">
                  <a:moveTo>
                    <a:pt x="0" y="0"/>
                  </a:moveTo>
                  <a:lnTo>
                    <a:pt x="674624" y="0"/>
                  </a:lnTo>
                  <a:lnTo>
                    <a:pt x="674624" y="727456"/>
                  </a:lnTo>
                  <a:lnTo>
                    <a:pt x="0" y="727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251192" y="5532120"/>
            <a:ext cx="213360" cy="228600"/>
            <a:chOff x="0" y="0"/>
            <a:chExt cx="284480" cy="304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480" cy="304800"/>
            </a:xfrm>
            <a:custGeom>
              <a:avLst/>
              <a:gdLst/>
              <a:ahLst/>
              <a:cxnLst/>
              <a:rect l="l" t="t" r="r" b="b"/>
              <a:pathLst>
                <a:path w="284480" h="304800">
                  <a:moveTo>
                    <a:pt x="0" y="0"/>
                  </a:moveTo>
                  <a:lnTo>
                    <a:pt x="284480" y="0"/>
                  </a:lnTo>
                  <a:lnTo>
                    <a:pt x="28448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323590" y="3798694"/>
            <a:ext cx="4141213" cy="1088479"/>
          </a:xfrm>
          <a:custGeom>
            <a:avLst/>
            <a:gdLst/>
            <a:ahLst/>
            <a:cxnLst/>
            <a:rect l="l" t="t" r="r" b="b"/>
            <a:pathLst>
              <a:path w="4141213" h="1088479">
                <a:moveTo>
                  <a:pt x="0" y="0"/>
                </a:moveTo>
                <a:lnTo>
                  <a:pt x="4141213" y="0"/>
                </a:lnTo>
                <a:lnTo>
                  <a:pt x="4141213" y="1088479"/>
                </a:lnTo>
                <a:lnTo>
                  <a:pt x="0" y="10884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059168" y="4276344"/>
            <a:ext cx="359664" cy="359664"/>
            <a:chOff x="0" y="0"/>
            <a:chExt cx="479552" cy="479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9552" cy="479552"/>
            </a:xfrm>
            <a:custGeom>
              <a:avLst/>
              <a:gdLst/>
              <a:ahLst/>
              <a:cxnLst/>
              <a:rect l="l" t="t" r="r" b="b"/>
              <a:pathLst>
                <a:path w="479552" h="479552">
                  <a:moveTo>
                    <a:pt x="0" y="0"/>
                  </a:moveTo>
                  <a:lnTo>
                    <a:pt x="479552" y="0"/>
                  </a:lnTo>
                  <a:lnTo>
                    <a:pt x="479552" y="479552"/>
                  </a:lnTo>
                  <a:lnTo>
                    <a:pt x="0" y="47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979920" y="4117848"/>
            <a:ext cx="362712" cy="359664"/>
            <a:chOff x="0" y="0"/>
            <a:chExt cx="483616" cy="4795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616" cy="479552"/>
            </a:xfrm>
            <a:custGeom>
              <a:avLst/>
              <a:gdLst/>
              <a:ahLst/>
              <a:cxnLst/>
              <a:rect l="l" t="t" r="r" b="b"/>
              <a:pathLst>
                <a:path w="483616" h="479552">
                  <a:moveTo>
                    <a:pt x="0" y="0"/>
                  </a:moveTo>
                  <a:lnTo>
                    <a:pt x="483616" y="0"/>
                  </a:lnTo>
                  <a:lnTo>
                    <a:pt x="483616" y="479552"/>
                  </a:lnTo>
                  <a:lnTo>
                    <a:pt x="0" y="47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6323590" y="935803"/>
            <a:ext cx="4141213" cy="1088479"/>
          </a:xfrm>
          <a:custGeom>
            <a:avLst/>
            <a:gdLst/>
            <a:ahLst/>
            <a:cxnLst/>
            <a:rect l="l" t="t" r="r" b="b"/>
            <a:pathLst>
              <a:path w="4141213" h="1088479">
                <a:moveTo>
                  <a:pt x="0" y="0"/>
                </a:moveTo>
                <a:lnTo>
                  <a:pt x="4141213" y="0"/>
                </a:lnTo>
                <a:lnTo>
                  <a:pt x="4141213" y="1088479"/>
                </a:lnTo>
                <a:lnTo>
                  <a:pt x="0" y="10884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323590" y="2390584"/>
            <a:ext cx="4141213" cy="1088479"/>
          </a:xfrm>
          <a:custGeom>
            <a:avLst/>
            <a:gdLst/>
            <a:ahLst/>
            <a:cxnLst/>
            <a:rect l="l" t="t" r="r" b="b"/>
            <a:pathLst>
              <a:path w="4141213" h="1088479">
                <a:moveTo>
                  <a:pt x="0" y="0"/>
                </a:moveTo>
                <a:lnTo>
                  <a:pt x="4141213" y="0"/>
                </a:lnTo>
                <a:lnTo>
                  <a:pt x="4141213" y="1088479"/>
                </a:lnTo>
                <a:lnTo>
                  <a:pt x="0" y="10884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8" name="Group 18"/>
          <p:cNvGrpSpPr/>
          <p:nvPr/>
        </p:nvGrpSpPr>
        <p:grpSpPr>
          <a:xfrm>
            <a:off x="7071360" y="1374648"/>
            <a:ext cx="344424" cy="344424"/>
            <a:chOff x="0" y="0"/>
            <a:chExt cx="459232" cy="4592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459232" h="459232">
                  <a:moveTo>
                    <a:pt x="0" y="0"/>
                  </a:moveTo>
                  <a:lnTo>
                    <a:pt x="459232" y="0"/>
                  </a:lnTo>
                  <a:lnTo>
                    <a:pt x="459232" y="459232"/>
                  </a:lnTo>
                  <a:lnTo>
                    <a:pt x="0" y="459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937248" y="1231392"/>
            <a:ext cx="307848" cy="310896"/>
            <a:chOff x="0" y="0"/>
            <a:chExt cx="410464" cy="4145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0464" cy="414528"/>
            </a:xfrm>
            <a:custGeom>
              <a:avLst/>
              <a:gdLst/>
              <a:ahLst/>
              <a:cxnLst/>
              <a:rect l="l" t="t" r="r" b="b"/>
              <a:pathLst>
                <a:path w="410464" h="414528">
                  <a:moveTo>
                    <a:pt x="0" y="0"/>
                  </a:moveTo>
                  <a:lnTo>
                    <a:pt x="410464" y="0"/>
                  </a:lnTo>
                  <a:lnTo>
                    <a:pt x="410464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705812" y="2528059"/>
            <a:ext cx="1451620" cy="2764403"/>
          </a:xfrm>
          <a:custGeom>
            <a:avLst/>
            <a:gdLst/>
            <a:ahLst/>
            <a:cxnLst/>
            <a:rect l="l" t="t" r="r" b="b"/>
            <a:pathLst>
              <a:path w="1451620" h="2764403">
                <a:moveTo>
                  <a:pt x="0" y="0"/>
                </a:moveTo>
                <a:lnTo>
                  <a:pt x="1451620" y="0"/>
                </a:lnTo>
                <a:lnTo>
                  <a:pt x="1451620" y="2764402"/>
                </a:lnTo>
                <a:lnTo>
                  <a:pt x="0" y="276440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859107" y="2617327"/>
            <a:ext cx="2570397" cy="2570397"/>
            <a:chOff x="0" y="0"/>
            <a:chExt cx="3427197" cy="34271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27095" cy="3427095"/>
            </a:xfrm>
            <a:custGeom>
              <a:avLst/>
              <a:gdLst/>
              <a:ahLst/>
              <a:cxnLst/>
              <a:rect l="l" t="t" r="r" b="b"/>
              <a:pathLst>
                <a:path w="3427095" h="3427095">
                  <a:moveTo>
                    <a:pt x="186309" y="0"/>
                  </a:moveTo>
                  <a:cubicBezTo>
                    <a:pt x="83439" y="0"/>
                    <a:pt x="0" y="83439"/>
                    <a:pt x="0" y="186309"/>
                  </a:cubicBezTo>
                  <a:lnTo>
                    <a:pt x="0" y="3240786"/>
                  </a:lnTo>
                  <a:cubicBezTo>
                    <a:pt x="0" y="3343656"/>
                    <a:pt x="83439" y="3427095"/>
                    <a:pt x="186309" y="3427095"/>
                  </a:cubicBezTo>
                  <a:lnTo>
                    <a:pt x="3240786" y="3427095"/>
                  </a:lnTo>
                  <a:cubicBezTo>
                    <a:pt x="3343529" y="3427095"/>
                    <a:pt x="3426841" y="3343910"/>
                    <a:pt x="3427095" y="3241167"/>
                  </a:cubicBezTo>
                  <a:lnTo>
                    <a:pt x="3427095" y="185928"/>
                  </a:lnTo>
                  <a:cubicBezTo>
                    <a:pt x="3426968" y="83185"/>
                    <a:pt x="3343656" y="0"/>
                    <a:pt x="3240786" y="0"/>
                  </a:cubicBezTo>
                  <a:close/>
                </a:path>
              </a:pathLst>
            </a:custGeom>
            <a:blipFill>
              <a:blip r:embed="rId19"/>
              <a:stretch>
                <a:fillRect r="-2" b="-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367379" y="95345"/>
            <a:ext cx="348196" cy="348539"/>
            <a:chOff x="0" y="0"/>
            <a:chExt cx="348196" cy="348539"/>
          </a:xfrm>
        </p:grpSpPr>
        <p:sp>
          <p:nvSpPr>
            <p:cNvPr id="26" name="Freeform 26"/>
            <p:cNvSpPr/>
            <p:nvPr/>
          </p:nvSpPr>
          <p:spPr>
            <a:xfrm>
              <a:off x="73024" y="73026"/>
              <a:ext cx="202182" cy="202441"/>
            </a:xfrm>
            <a:custGeom>
              <a:avLst/>
              <a:gdLst/>
              <a:ahLst/>
              <a:cxnLst/>
              <a:rect l="l" t="t" r="r" b="b"/>
              <a:pathLst>
                <a:path w="202182" h="202441">
                  <a:moveTo>
                    <a:pt x="0" y="202441"/>
                  </a:moveTo>
                  <a:lnTo>
                    <a:pt x="202182" y="202441"/>
                  </a:lnTo>
                  <a:lnTo>
                    <a:pt x="2021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167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3499" y="63501"/>
              <a:ext cx="221231" cy="221491"/>
            </a:xfrm>
            <a:custGeom>
              <a:avLst/>
              <a:gdLst/>
              <a:ahLst/>
              <a:cxnLst/>
              <a:rect l="l" t="t" r="r" b="b"/>
              <a:pathLst>
                <a:path w="221231" h="221491">
                  <a:moveTo>
                    <a:pt x="211707" y="19050"/>
                  </a:moveTo>
                  <a:lnTo>
                    <a:pt x="9525" y="19050"/>
                  </a:lnTo>
                  <a:lnTo>
                    <a:pt x="9525" y="9525"/>
                  </a:lnTo>
                  <a:lnTo>
                    <a:pt x="19050" y="9525"/>
                  </a:lnTo>
                  <a:lnTo>
                    <a:pt x="19050" y="211966"/>
                  </a:lnTo>
                  <a:lnTo>
                    <a:pt x="9525" y="211966"/>
                  </a:lnTo>
                  <a:lnTo>
                    <a:pt x="9525" y="202441"/>
                  </a:lnTo>
                  <a:lnTo>
                    <a:pt x="211707" y="202441"/>
                  </a:lnTo>
                  <a:lnTo>
                    <a:pt x="211707" y="211966"/>
                  </a:lnTo>
                  <a:lnTo>
                    <a:pt x="202182" y="211966"/>
                  </a:lnTo>
                  <a:lnTo>
                    <a:pt x="202182" y="9525"/>
                  </a:lnTo>
                  <a:lnTo>
                    <a:pt x="211707" y="9525"/>
                  </a:lnTo>
                  <a:lnTo>
                    <a:pt x="211707" y="19050"/>
                  </a:lnTo>
                  <a:moveTo>
                    <a:pt x="211707" y="0"/>
                  </a:moveTo>
                  <a:lnTo>
                    <a:pt x="221232" y="0"/>
                  </a:lnTo>
                  <a:lnTo>
                    <a:pt x="221232" y="9525"/>
                  </a:lnTo>
                  <a:lnTo>
                    <a:pt x="221232" y="211966"/>
                  </a:lnTo>
                  <a:lnTo>
                    <a:pt x="221232" y="221491"/>
                  </a:lnTo>
                  <a:lnTo>
                    <a:pt x="211707" y="221491"/>
                  </a:lnTo>
                  <a:lnTo>
                    <a:pt x="9525" y="221491"/>
                  </a:lnTo>
                  <a:lnTo>
                    <a:pt x="0" y="221491"/>
                  </a:lnTo>
                  <a:lnTo>
                    <a:pt x="0" y="211966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211707" y="0"/>
                  </a:lnTo>
                  <a:close/>
                </a:path>
              </a:pathLst>
            </a:custGeom>
            <a:solidFill>
              <a:srgbClr val="37167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44493" y="542954"/>
            <a:ext cx="1620002" cy="38100"/>
            <a:chOff x="0" y="0"/>
            <a:chExt cx="1619999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20011" cy="38099"/>
            </a:xfrm>
            <a:custGeom>
              <a:avLst/>
              <a:gdLst/>
              <a:ahLst/>
              <a:cxnLst/>
              <a:rect l="l" t="t" r="r" b="b"/>
              <a:pathLst>
                <a:path w="1620011" h="38099">
                  <a:moveTo>
                    <a:pt x="0" y="0"/>
                  </a:moveTo>
                  <a:lnTo>
                    <a:pt x="1620011" y="0"/>
                  </a:lnTo>
                  <a:lnTo>
                    <a:pt x="1620011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A859E1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3451308" y="748579"/>
            <a:ext cx="3312366" cy="4910719"/>
          </a:xfrm>
          <a:custGeom>
            <a:avLst/>
            <a:gdLst/>
            <a:ahLst/>
            <a:cxnLst/>
            <a:rect l="l" t="t" r="r" b="b"/>
            <a:pathLst>
              <a:path w="3312366" h="4910719">
                <a:moveTo>
                  <a:pt x="0" y="0"/>
                </a:moveTo>
                <a:lnTo>
                  <a:pt x="3312366" y="0"/>
                </a:lnTo>
                <a:lnTo>
                  <a:pt x="3312366" y="4910719"/>
                </a:lnTo>
                <a:lnTo>
                  <a:pt x="0" y="49107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865937" y="5380809"/>
            <a:ext cx="2570321" cy="335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 err="1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Mahin</a:t>
            </a:r>
            <a:r>
              <a:rPr lang="en-US" sz="1999" dirty="0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999" dirty="0">
                <a:solidFill>
                  <a:srgbClr val="ED7119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Farmer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33443" y="1319327"/>
            <a:ext cx="2438600" cy="33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20D77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Loses </a:t>
            </a:r>
            <a:r>
              <a:rPr lang="en-US" sz="1999">
                <a:solidFill>
                  <a:srgbClr val="ED7119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40%</a:t>
            </a:r>
            <a:r>
              <a:rPr lang="en-US" sz="1999">
                <a:solidFill>
                  <a:srgbClr val="320D77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Revenue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77188" y="5674919"/>
            <a:ext cx="2116474" cy="33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Climate Disasters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52696" y="2782367"/>
            <a:ext cx="2281695" cy="33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Inadequate Yields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21339" y="4184447"/>
            <a:ext cx="2343455" cy="33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1" dirty="0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Technology Deficit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4047" y="-18640"/>
            <a:ext cx="1657950" cy="55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Problem</a:t>
            </a:r>
          </a:p>
        </p:txBody>
      </p:sp>
      <p:sp>
        <p:nvSpPr>
          <p:cNvPr id="37" name="Freeform 19">
            <a:extLst>
              <a:ext uri="{FF2B5EF4-FFF2-40B4-BE49-F238E27FC236}">
                <a16:creationId xmlns:a16="http://schemas.microsoft.com/office/drawing/2014/main" id="{F2639F69-29A6-4A5A-8F07-C523768C8FB9}"/>
              </a:ext>
            </a:extLst>
          </p:cNvPr>
          <p:cNvSpPr/>
          <p:nvPr/>
        </p:nvSpPr>
        <p:spPr>
          <a:xfrm>
            <a:off x="865937" y="2617327"/>
            <a:ext cx="2582323" cy="2570321"/>
          </a:xfrm>
          <a:custGeom>
            <a:avLst/>
            <a:gdLst/>
            <a:ahLst/>
            <a:cxnLst/>
            <a:rect l="l" t="t" r="r" b="b"/>
            <a:pathLst>
              <a:path w="2545747" h="2545747">
                <a:moveTo>
                  <a:pt x="0" y="0"/>
                </a:moveTo>
                <a:lnTo>
                  <a:pt x="2545747" y="0"/>
                </a:lnTo>
                <a:lnTo>
                  <a:pt x="2545747" y="2545746"/>
                </a:lnTo>
                <a:lnTo>
                  <a:pt x="0" y="254574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10928" y="1777194"/>
            <a:ext cx="4902203" cy="3924300"/>
          </a:xfrm>
          <a:custGeom>
            <a:avLst/>
            <a:gdLst/>
            <a:ahLst/>
            <a:cxnLst/>
            <a:rect l="l" t="t" r="r" b="b"/>
            <a:pathLst>
              <a:path w="4902203" h="3924300">
                <a:moveTo>
                  <a:pt x="0" y="0"/>
                </a:moveTo>
                <a:lnTo>
                  <a:pt x="4902203" y="0"/>
                </a:lnTo>
                <a:lnTo>
                  <a:pt x="4902203" y="3924300"/>
                </a:lnTo>
                <a:lnTo>
                  <a:pt x="0" y="392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83981" y="2735189"/>
            <a:ext cx="4356097" cy="2287714"/>
            <a:chOff x="0" y="0"/>
            <a:chExt cx="5808129" cy="30502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08091" cy="3050286"/>
            </a:xfrm>
            <a:custGeom>
              <a:avLst/>
              <a:gdLst/>
              <a:ahLst/>
              <a:cxnLst/>
              <a:rect l="l" t="t" r="r" b="b"/>
              <a:pathLst>
                <a:path w="5808091" h="3050286">
                  <a:moveTo>
                    <a:pt x="0" y="0"/>
                  </a:moveTo>
                  <a:lnTo>
                    <a:pt x="5808091" y="0"/>
                  </a:lnTo>
                  <a:lnTo>
                    <a:pt x="5808091" y="3050286"/>
                  </a:lnTo>
                  <a:lnTo>
                    <a:pt x="0" y="3050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5303158" y="1171242"/>
            <a:ext cx="5731612" cy="2464251"/>
          </a:xfrm>
          <a:custGeom>
            <a:avLst/>
            <a:gdLst/>
            <a:ahLst/>
            <a:cxnLst/>
            <a:rect l="l" t="t" r="r" b="b"/>
            <a:pathLst>
              <a:path w="5731612" h="2464251">
                <a:moveTo>
                  <a:pt x="0" y="0"/>
                </a:moveTo>
                <a:lnTo>
                  <a:pt x="5731612" y="0"/>
                </a:lnTo>
                <a:lnTo>
                  <a:pt x="5731612" y="2464250"/>
                </a:lnTo>
                <a:lnTo>
                  <a:pt x="0" y="2464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321040" y="1365504"/>
            <a:ext cx="533400" cy="533400"/>
            <a:chOff x="0" y="0"/>
            <a:chExt cx="7112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244840" y="1575816"/>
            <a:ext cx="472440" cy="472440"/>
            <a:chOff x="0" y="0"/>
            <a:chExt cx="629920" cy="629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20">
                  <a:moveTo>
                    <a:pt x="0" y="0"/>
                  </a:moveTo>
                  <a:lnTo>
                    <a:pt x="629920" y="0"/>
                  </a:lnTo>
                  <a:lnTo>
                    <a:pt x="629920" y="629920"/>
                  </a:lnTo>
                  <a:lnTo>
                    <a:pt x="0" y="62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7846266" y="2486435"/>
            <a:ext cx="3164967" cy="1021156"/>
          </a:xfrm>
          <a:custGeom>
            <a:avLst/>
            <a:gdLst/>
            <a:ahLst/>
            <a:cxnLst/>
            <a:rect l="l" t="t" r="r" b="b"/>
            <a:pathLst>
              <a:path w="3164967" h="1021156">
                <a:moveTo>
                  <a:pt x="0" y="0"/>
                </a:moveTo>
                <a:lnTo>
                  <a:pt x="3164967" y="0"/>
                </a:lnTo>
                <a:lnTo>
                  <a:pt x="3164967" y="1021156"/>
                </a:lnTo>
                <a:lnTo>
                  <a:pt x="0" y="1021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851067" y="5269935"/>
            <a:ext cx="3160166" cy="997144"/>
          </a:xfrm>
          <a:custGeom>
            <a:avLst/>
            <a:gdLst/>
            <a:ahLst/>
            <a:cxnLst/>
            <a:rect l="l" t="t" r="r" b="b"/>
            <a:pathLst>
              <a:path w="3160166" h="997144">
                <a:moveTo>
                  <a:pt x="0" y="0"/>
                </a:moveTo>
                <a:lnTo>
                  <a:pt x="3160166" y="0"/>
                </a:lnTo>
                <a:lnTo>
                  <a:pt x="3160166" y="997144"/>
                </a:lnTo>
                <a:lnTo>
                  <a:pt x="0" y="9971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846266" y="3816229"/>
            <a:ext cx="3164967" cy="1013860"/>
          </a:xfrm>
          <a:custGeom>
            <a:avLst/>
            <a:gdLst/>
            <a:ahLst/>
            <a:cxnLst/>
            <a:rect l="l" t="t" r="r" b="b"/>
            <a:pathLst>
              <a:path w="3164967" h="1013860">
                <a:moveTo>
                  <a:pt x="0" y="0"/>
                </a:moveTo>
                <a:lnTo>
                  <a:pt x="3164967" y="0"/>
                </a:lnTo>
                <a:lnTo>
                  <a:pt x="3164967" y="1013860"/>
                </a:lnTo>
                <a:lnTo>
                  <a:pt x="0" y="10138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8244840" y="2801112"/>
            <a:ext cx="502920" cy="505968"/>
            <a:chOff x="0" y="0"/>
            <a:chExt cx="670560" cy="6746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0560" cy="674624"/>
            </a:xfrm>
            <a:custGeom>
              <a:avLst/>
              <a:gdLst/>
              <a:ahLst/>
              <a:cxnLst/>
              <a:rect l="l" t="t" r="r" b="b"/>
              <a:pathLst>
                <a:path w="670560" h="674624">
                  <a:moveTo>
                    <a:pt x="0" y="0"/>
                  </a:moveTo>
                  <a:lnTo>
                    <a:pt x="670560" y="0"/>
                  </a:lnTo>
                  <a:lnTo>
                    <a:pt x="670560" y="674624"/>
                  </a:lnTo>
                  <a:lnTo>
                    <a:pt x="0" y="674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8281416" y="5596128"/>
            <a:ext cx="478536" cy="478536"/>
            <a:chOff x="0" y="0"/>
            <a:chExt cx="638048" cy="6380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8048" cy="638048"/>
            </a:xfrm>
            <a:custGeom>
              <a:avLst/>
              <a:gdLst/>
              <a:ahLst/>
              <a:cxnLst/>
              <a:rect l="l" t="t" r="r" b="b"/>
              <a:pathLst>
                <a:path w="638048" h="638048">
                  <a:moveTo>
                    <a:pt x="0" y="0"/>
                  </a:moveTo>
                  <a:lnTo>
                    <a:pt x="638048" y="0"/>
                  </a:lnTo>
                  <a:lnTo>
                    <a:pt x="638048" y="638048"/>
                  </a:lnTo>
                  <a:lnTo>
                    <a:pt x="0" y="638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8293608" y="4187952"/>
            <a:ext cx="530352" cy="530352"/>
            <a:chOff x="0" y="0"/>
            <a:chExt cx="707136" cy="7071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7136" cy="707136"/>
            </a:xfrm>
            <a:custGeom>
              <a:avLst/>
              <a:gdLst/>
              <a:ahLst/>
              <a:cxnLst/>
              <a:rect l="l" t="t" r="r" b="b"/>
              <a:pathLst>
                <a:path w="707136" h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189976" y="4090416"/>
            <a:ext cx="323088" cy="323088"/>
            <a:chOff x="0" y="0"/>
            <a:chExt cx="430784" cy="4307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0784" cy="430784"/>
            </a:xfrm>
            <a:custGeom>
              <a:avLst/>
              <a:gdLst/>
              <a:ahLst/>
              <a:cxnLst/>
              <a:rect l="l" t="t" r="r" b="b"/>
              <a:pathLst>
                <a:path w="430784" h="430784">
                  <a:moveTo>
                    <a:pt x="0" y="0"/>
                  </a:moveTo>
                  <a:lnTo>
                    <a:pt x="430784" y="0"/>
                  </a:lnTo>
                  <a:lnTo>
                    <a:pt x="430784" y="430784"/>
                  </a:lnTo>
                  <a:lnTo>
                    <a:pt x="0" y="43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367379" y="95345"/>
            <a:ext cx="348196" cy="348539"/>
            <a:chOff x="0" y="0"/>
            <a:chExt cx="348196" cy="348539"/>
          </a:xfrm>
        </p:grpSpPr>
        <p:sp>
          <p:nvSpPr>
            <p:cNvPr id="26" name="Freeform 26"/>
            <p:cNvSpPr/>
            <p:nvPr/>
          </p:nvSpPr>
          <p:spPr>
            <a:xfrm>
              <a:off x="73024" y="73026"/>
              <a:ext cx="202182" cy="202441"/>
            </a:xfrm>
            <a:custGeom>
              <a:avLst/>
              <a:gdLst/>
              <a:ahLst/>
              <a:cxnLst/>
              <a:rect l="l" t="t" r="r" b="b"/>
              <a:pathLst>
                <a:path w="202182" h="202441">
                  <a:moveTo>
                    <a:pt x="0" y="202441"/>
                  </a:moveTo>
                  <a:lnTo>
                    <a:pt x="202182" y="202441"/>
                  </a:lnTo>
                  <a:lnTo>
                    <a:pt x="2021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167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3499" y="63501"/>
              <a:ext cx="221231" cy="221491"/>
            </a:xfrm>
            <a:custGeom>
              <a:avLst/>
              <a:gdLst/>
              <a:ahLst/>
              <a:cxnLst/>
              <a:rect l="l" t="t" r="r" b="b"/>
              <a:pathLst>
                <a:path w="221231" h="221491">
                  <a:moveTo>
                    <a:pt x="211707" y="19050"/>
                  </a:moveTo>
                  <a:lnTo>
                    <a:pt x="9525" y="19050"/>
                  </a:lnTo>
                  <a:lnTo>
                    <a:pt x="9525" y="9525"/>
                  </a:lnTo>
                  <a:lnTo>
                    <a:pt x="19050" y="9525"/>
                  </a:lnTo>
                  <a:lnTo>
                    <a:pt x="19050" y="211966"/>
                  </a:lnTo>
                  <a:lnTo>
                    <a:pt x="9525" y="211966"/>
                  </a:lnTo>
                  <a:lnTo>
                    <a:pt x="9525" y="202441"/>
                  </a:lnTo>
                  <a:lnTo>
                    <a:pt x="211707" y="202441"/>
                  </a:lnTo>
                  <a:lnTo>
                    <a:pt x="211707" y="211966"/>
                  </a:lnTo>
                  <a:lnTo>
                    <a:pt x="202182" y="211966"/>
                  </a:lnTo>
                  <a:lnTo>
                    <a:pt x="202182" y="9525"/>
                  </a:lnTo>
                  <a:lnTo>
                    <a:pt x="211707" y="9525"/>
                  </a:lnTo>
                  <a:lnTo>
                    <a:pt x="211707" y="19050"/>
                  </a:lnTo>
                  <a:moveTo>
                    <a:pt x="211707" y="0"/>
                  </a:moveTo>
                  <a:lnTo>
                    <a:pt x="221232" y="0"/>
                  </a:lnTo>
                  <a:lnTo>
                    <a:pt x="221232" y="9525"/>
                  </a:lnTo>
                  <a:lnTo>
                    <a:pt x="221232" y="211966"/>
                  </a:lnTo>
                  <a:lnTo>
                    <a:pt x="221232" y="221491"/>
                  </a:lnTo>
                  <a:lnTo>
                    <a:pt x="211707" y="221491"/>
                  </a:lnTo>
                  <a:lnTo>
                    <a:pt x="9525" y="221491"/>
                  </a:lnTo>
                  <a:lnTo>
                    <a:pt x="0" y="221491"/>
                  </a:lnTo>
                  <a:lnTo>
                    <a:pt x="0" y="211966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211707" y="0"/>
                  </a:lnTo>
                  <a:close/>
                </a:path>
              </a:pathLst>
            </a:custGeom>
            <a:solidFill>
              <a:srgbClr val="37167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44493" y="542954"/>
            <a:ext cx="1548003" cy="38100"/>
            <a:chOff x="0" y="0"/>
            <a:chExt cx="1548003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48006" cy="38099"/>
            </a:xfrm>
            <a:custGeom>
              <a:avLst/>
              <a:gdLst/>
              <a:ahLst/>
              <a:cxnLst/>
              <a:rect l="l" t="t" r="r" b="b"/>
              <a:pathLst>
                <a:path w="1548006" h="38099">
                  <a:moveTo>
                    <a:pt x="0" y="0"/>
                  </a:moveTo>
                  <a:lnTo>
                    <a:pt x="1548006" y="0"/>
                  </a:lnTo>
                  <a:lnTo>
                    <a:pt x="1548006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A859E1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590556" y="2662161"/>
            <a:ext cx="2376916" cy="743417"/>
          </a:xfrm>
          <a:custGeom>
            <a:avLst/>
            <a:gdLst/>
            <a:ahLst/>
            <a:cxnLst/>
            <a:rect l="l" t="t" r="r" b="b"/>
            <a:pathLst>
              <a:path w="2376916" h="743417">
                <a:moveTo>
                  <a:pt x="0" y="0"/>
                </a:moveTo>
                <a:lnTo>
                  <a:pt x="2376916" y="0"/>
                </a:lnTo>
                <a:lnTo>
                  <a:pt x="2376916" y="743417"/>
                </a:lnTo>
                <a:lnTo>
                  <a:pt x="0" y="74341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366842" y="3488303"/>
            <a:ext cx="2624595" cy="2073907"/>
          </a:xfrm>
          <a:custGeom>
            <a:avLst/>
            <a:gdLst/>
            <a:ahLst/>
            <a:cxnLst/>
            <a:rect l="l" t="t" r="r" b="b"/>
            <a:pathLst>
              <a:path w="2624595" h="2073907">
                <a:moveTo>
                  <a:pt x="0" y="0"/>
                </a:moveTo>
                <a:lnTo>
                  <a:pt x="2624595" y="0"/>
                </a:lnTo>
                <a:lnTo>
                  <a:pt x="2624595" y="2073906"/>
                </a:lnTo>
                <a:lnTo>
                  <a:pt x="0" y="2073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287770" y="4109866"/>
            <a:ext cx="1267139" cy="24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99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Data-Driven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38580" y="4350658"/>
            <a:ext cx="901303" cy="24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99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Analytics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20454" y="5557666"/>
            <a:ext cx="1687897" cy="24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99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Eliminating Price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73666" y="5798458"/>
            <a:ext cx="501329" cy="24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99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Hikes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4035" y="1587646"/>
            <a:ext cx="1514580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Excellent Yields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72039" y="2790082"/>
            <a:ext cx="1787233" cy="24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99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Producing Green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27660" y="3030874"/>
            <a:ext cx="595389" cy="24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99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Foods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4046" y="-18640"/>
            <a:ext cx="2827353" cy="557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37167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66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 rot="-2857440">
            <a:off x="1302492" y="1602305"/>
            <a:ext cx="411423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4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60%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1506E9-64A7-4C1E-8A2B-96F303A1FD44}"/>
              </a:ext>
            </a:extLst>
          </p:cNvPr>
          <p:cNvGrpSpPr/>
          <p:nvPr/>
        </p:nvGrpSpPr>
        <p:grpSpPr>
          <a:xfrm>
            <a:off x="381000" y="11966"/>
            <a:ext cx="6172200" cy="656007"/>
            <a:chOff x="381000" y="11966"/>
            <a:chExt cx="6172200" cy="656007"/>
          </a:xfrm>
        </p:grpSpPr>
        <p:grpSp>
          <p:nvGrpSpPr>
            <p:cNvPr id="16" name="Group 16"/>
            <p:cNvGrpSpPr/>
            <p:nvPr/>
          </p:nvGrpSpPr>
          <p:grpSpPr>
            <a:xfrm>
              <a:off x="381000" y="162928"/>
              <a:ext cx="262747" cy="236620"/>
              <a:chOff x="0" y="0"/>
              <a:chExt cx="202146" cy="2024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02180" cy="202443"/>
              </a:xfrm>
              <a:custGeom>
                <a:avLst/>
                <a:gdLst/>
                <a:ahLst/>
                <a:cxnLst/>
                <a:rect l="l" t="t" r="r" b="b"/>
                <a:pathLst>
                  <a:path w="202180" h="202443">
                    <a:moveTo>
                      <a:pt x="0" y="202443"/>
                    </a:moveTo>
                    <a:lnTo>
                      <a:pt x="202180" y="202443"/>
                    </a:lnTo>
                    <a:lnTo>
                      <a:pt x="20218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91014" y="622254"/>
              <a:ext cx="5351020" cy="45719"/>
              <a:chOff x="0" y="0"/>
              <a:chExt cx="1152004" cy="381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52021" cy="38099"/>
              </a:xfrm>
              <a:custGeom>
                <a:avLst/>
                <a:gdLst/>
                <a:ahLst/>
                <a:cxnLst/>
                <a:rect l="l" t="t" r="r" b="b"/>
                <a:pathLst>
                  <a:path w="1152021" h="38099">
                    <a:moveTo>
                      <a:pt x="0" y="0"/>
                    </a:moveTo>
                    <a:lnTo>
                      <a:pt x="1152021" y="0"/>
                    </a:lnTo>
                    <a:lnTo>
                      <a:pt x="1152021" y="38099"/>
                    </a:lnTo>
                    <a:lnTo>
                      <a:pt x="0" y="38099"/>
                    </a:lnTo>
                    <a:close/>
                  </a:path>
                </a:pathLst>
              </a:custGeom>
              <a:solidFill>
                <a:srgbClr val="ED712E"/>
              </a:solidFill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45206" y="11966"/>
              <a:ext cx="5807994" cy="5385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Opportunity &amp; Target Market</a:t>
              </a:r>
            </a:p>
          </p:txBody>
        </p:sp>
      </p:grpSp>
      <p:sp>
        <p:nvSpPr>
          <p:cNvPr id="40" name="TextBox 32">
            <a:extLst>
              <a:ext uri="{FF2B5EF4-FFF2-40B4-BE49-F238E27FC236}">
                <a16:creationId xmlns:a16="http://schemas.microsoft.com/office/drawing/2014/main" id="{12DA9FBF-0364-4677-9104-BEF0E3D53C76}"/>
              </a:ext>
            </a:extLst>
          </p:cNvPr>
          <p:cNvSpPr txBox="1"/>
          <p:nvPr/>
        </p:nvSpPr>
        <p:spPr>
          <a:xfrm>
            <a:off x="4216990" y="2638721"/>
            <a:ext cx="3754971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Target Market for Setup Services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16BF20-4461-45AF-8C28-0609922A2FA1}"/>
              </a:ext>
            </a:extLst>
          </p:cNvPr>
          <p:cNvSpPr txBox="1"/>
          <p:nvPr/>
        </p:nvSpPr>
        <p:spPr>
          <a:xfrm>
            <a:off x="2560810" y="990320"/>
            <a:ext cx="70673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Market Trends: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Rapidly increasing demand for organic and chemical-free food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Growing preference for traceable and locally produced products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Urban consumers are becoming more health-conscious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3EE64F7-0DC3-43A6-92F4-DEE913703901}"/>
              </a:ext>
            </a:extLst>
          </p:cNvPr>
          <p:cNvGrpSpPr/>
          <p:nvPr/>
        </p:nvGrpSpPr>
        <p:grpSpPr>
          <a:xfrm>
            <a:off x="1330520" y="3143663"/>
            <a:ext cx="9439863" cy="3287106"/>
            <a:chOff x="524256" y="1240536"/>
            <a:chExt cx="9439863" cy="3287106"/>
          </a:xfrm>
        </p:grpSpPr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01C7A507-53E4-48CB-B0C0-79D1A0E03435}"/>
                </a:ext>
              </a:extLst>
            </p:cNvPr>
            <p:cNvSpPr/>
            <p:nvPr/>
          </p:nvSpPr>
          <p:spPr>
            <a:xfrm>
              <a:off x="1647625" y="1901390"/>
              <a:ext cx="2536612" cy="210445"/>
            </a:xfrm>
            <a:custGeom>
              <a:avLst/>
              <a:gdLst/>
              <a:ahLst/>
              <a:cxnLst/>
              <a:rect l="l" t="t" r="r" b="b"/>
              <a:pathLst>
                <a:path w="2536612" h="210445">
                  <a:moveTo>
                    <a:pt x="0" y="0"/>
                  </a:moveTo>
                  <a:lnTo>
                    <a:pt x="2536612" y="0"/>
                  </a:lnTo>
                  <a:lnTo>
                    <a:pt x="2536612" y="210445"/>
                  </a:lnTo>
                  <a:lnTo>
                    <a:pt x="0" y="21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B31DE13D-95D9-4B07-B56D-D43570AB8324}"/>
                </a:ext>
              </a:extLst>
            </p:cNvPr>
            <p:cNvSpPr/>
            <p:nvPr/>
          </p:nvSpPr>
          <p:spPr>
            <a:xfrm>
              <a:off x="4924787" y="1901390"/>
              <a:ext cx="1463450" cy="210445"/>
            </a:xfrm>
            <a:custGeom>
              <a:avLst/>
              <a:gdLst/>
              <a:ahLst/>
              <a:cxnLst/>
              <a:rect l="l" t="t" r="r" b="b"/>
              <a:pathLst>
                <a:path w="1463450" h="210445">
                  <a:moveTo>
                    <a:pt x="0" y="0"/>
                  </a:moveTo>
                  <a:lnTo>
                    <a:pt x="1463450" y="0"/>
                  </a:lnTo>
                  <a:lnTo>
                    <a:pt x="1463450" y="210445"/>
                  </a:lnTo>
                  <a:lnTo>
                    <a:pt x="0" y="21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C7786440-387F-4999-BED7-700FB3ED5BD5}"/>
                </a:ext>
              </a:extLst>
            </p:cNvPr>
            <p:cNvSpPr/>
            <p:nvPr/>
          </p:nvSpPr>
          <p:spPr>
            <a:xfrm>
              <a:off x="7099449" y="1890084"/>
              <a:ext cx="1454201" cy="221752"/>
            </a:xfrm>
            <a:custGeom>
              <a:avLst/>
              <a:gdLst/>
              <a:ahLst/>
              <a:cxnLst/>
              <a:rect l="l" t="t" r="r" b="b"/>
              <a:pathLst>
                <a:path w="1454201" h="221752">
                  <a:moveTo>
                    <a:pt x="0" y="0"/>
                  </a:moveTo>
                  <a:lnTo>
                    <a:pt x="1454201" y="0"/>
                  </a:lnTo>
                  <a:lnTo>
                    <a:pt x="1454201" y="221751"/>
                  </a:lnTo>
                  <a:lnTo>
                    <a:pt x="0" y="221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6" name="Group 11">
              <a:extLst>
                <a:ext uri="{FF2B5EF4-FFF2-40B4-BE49-F238E27FC236}">
                  <a16:creationId xmlns:a16="http://schemas.microsoft.com/office/drawing/2014/main" id="{0EF6CF80-9A3C-4402-917B-AF68A5B231AD}"/>
                </a:ext>
              </a:extLst>
            </p:cNvPr>
            <p:cNvGrpSpPr/>
            <p:nvPr/>
          </p:nvGrpSpPr>
          <p:grpSpPr>
            <a:xfrm>
              <a:off x="524256" y="1240536"/>
              <a:ext cx="1584960" cy="1584960"/>
              <a:chOff x="0" y="0"/>
              <a:chExt cx="2113280" cy="2113280"/>
            </a:xfrm>
          </p:grpSpPr>
          <p:sp>
            <p:nvSpPr>
              <p:cNvPr id="89" name="Freeform 12">
                <a:extLst>
                  <a:ext uri="{FF2B5EF4-FFF2-40B4-BE49-F238E27FC236}">
                    <a16:creationId xmlns:a16="http://schemas.microsoft.com/office/drawing/2014/main" id="{E6CE9773-964A-4626-AB08-96095925DB32}"/>
                  </a:ext>
                </a:extLst>
              </p:cNvPr>
              <p:cNvSpPr/>
              <p:nvPr/>
            </p:nvSpPr>
            <p:spPr>
              <a:xfrm>
                <a:off x="0" y="0"/>
                <a:ext cx="2113280" cy="2113280"/>
              </a:xfrm>
              <a:custGeom>
                <a:avLst/>
                <a:gdLst/>
                <a:ahLst/>
                <a:cxnLst/>
                <a:rect l="l" t="t" r="r" b="b"/>
                <a:pathLst>
                  <a:path w="2113280" h="2113280">
                    <a:moveTo>
                      <a:pt x="0" y="0"/>
                    </a:moveTo>
                    <a:lnTo>
                      <a:pt x="2113280" y="0"/>
                    </a:lnTo>
                    <a:lnTo>
                      <a:pt x="2113280" y="2113280"/>
                    </a:lnTo>
                    <a:lnTo>
                      <a:pt x="0" y="2113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</p:sp>
        </p:grp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B81524C5-D00A-49F6-B879-E1DAEE49016B}"/>
                </a:ext>
              </a:extLst>
            </p:cNvPr>
            <p:cNvSpPr/>
            <p:nvPr/>
          </p:nvSpPr>
          <p:spPr>
            <a:xfrm>
              <a:off x="689372" y="1406842"/>
              <a:ext cx="1200788" cy="1200788"/>
            </a:xfrm>
            <a:custGeom>
              <a:avLst/>
              <a:gdLst/>
              <a:ahLst/>
              <a:cxnLst/>
              <a:rect l="l" t="t" r="r" b="b"/>
              <a:pathLst>
                <a:path w="1200788" h="1200788">
                  <a:moveTo>
                    <a:pt x="0" y="0"/>
                  </a:moveTo>
                  <a:lnTo>
                    <a:pt x="1200788" y="0"/>
                  </a:lnTo>
                  <a:lnTo>
                    <a:pt x="1200788" y="1200789"/>
                  </a:lnTo>
                  <a:lnTo>
                    <a:pt x="0" y="12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449E4E45-C282-46E3-90CB-F621303F7AF0}"/>
                </a:ext>
              </a:extLst>
            </p:cNvPr>
            <p:cNvGrpSpPr/>
            <p:nvPr/>
          </p:nvGrpSpPr>
          <p:grpSpPr>
            <a:xfrm>
              <a:off x="621792" y="2142744"/>
              <a:ext cx="1408176" cy="1423416"/>
              <a:chOff x="0" y="0"/>
              <a:chExt cx="1877568" cy="1897888"/>
            </a:xfrm>
          </p:grpSpPr>
          <p:sp>
            <p:nvSpPr>
              <p:cNvPr id="88" name="Freeform 15">
                <a:extLst>
                  <a:ext uri="{FF2B5EF4-FFF2-40B4-BE49-F238E27FC236}">
                    <a16:creationId xmlns:a16="http://schemas.microsoft.com/office/drawing/2014/main" id="{6A1F4917-1C7C-4B19-AEDE-7CCE2406831D}"/>
                  </a:ext>
                </a:extLst>
              </p:cNvPr>
              <p:cNvSpPr/>
              <p:nvPr/>
            </p:nvSpPr>
            <p:spPr>
              <a:xfrm>
                <a:off x="0" y="0"/>
                <a:ext cx="1877568" cy="1897888"/>
              </a:xfrm>
              <a:custGeom>
                <a:avLst/>
                <a:gdLst/>
                <a:ahLst/>
                <a:cxnLst/>
                <a:rect l="l" t="t" r="r" b="b"/>
                <a:pathLst>
                  <a:path w="1877568" h="1897888">
                    <a:moveTo>
                      <a:pt x="496570" y="0"/>
                    </a:moveTo>
                    <a:cubicBezTo>
                      <a:pt x="564134" y="153797"/>
                      <a:pt x="715137" y="260858"/>
                      <a:pt x="890524" y="260858"/>
                    </a:cubicBezTo>
                    <a:cubicBezTo>
                      <a:pt x="1065911" y="260858"/>
                      <a:pt x="1217168" y="153797"/>
                      <a:pt x="1284605" y="0"/>
                    </a:cubicBezTo>
                    <a:close/>
                    <a:moveTo>
                      <a:pt x="0" y="0"/>
                    </a:moveTo>
                    <a:lnTo>
                      <a:pt x="0" y="1897888"/>
                    </a:lnTo>
                    <a:lnTo>
                      <a:pt x="1877568" y="1897888"/>
                    </a:lnTo>
                    <a:lnTo>
                      <a:pt x="1877568" y="0"/>
                    </a:lnTo>
                    <a:lnTo>
                      <a:pt x="1432687" y="0"/>
                    </a:lnTo>
                    <a:cubicBezTo>
                      <a:pt x="1358011" y="231902"/>
                      <a:pt x="1143508" y="399415"/>
                      <a:pt x="890651" y="399415"/>
                    </a:cubicBezTo>
                    <a:cubicBezTo>
                      <a:pt x="637794" y="399415"/>
                      <a:pt x="423164" y="231902"/>
                      <a:pt x="348615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/>
                </a:stretch>
              </a:blipFill>
            </p:spPr>
          </p:sp>
        </p:grpSp>
        <p:grpSp>
          <p:nvGrpSpPr>
            <p:cNvPr id="49" name="Group 16">
              <a:extLst>
                <a:ext uri="{FF2B5EF4-FFF2-40B4-BE49-F238E27FC236}">
                  <a16:creationId xmlns:a16="http://schemas.microsoft.com/office/drawing/2014/main" id="{6F81E04D-B5D9-4320-A469-0014651144EE}"/>
                </a:ext>
              </a:extLst>
            </p:cNvPr>
            <p:cNvGrpSpPr/>
            <p:nvPr/>
          </p:nvGrpSpPr>
          <p:grpSpPr>
            <a:xfrm>
              <a:off x="627888" y="1338072"/>
              <a:ext cx="1395984" cy="1411224"/>
              <a:chOff x="0" y="0"/>
              <a:chExt cx="1861312" cy="1881632"/>
            </a:xfrm>
          </p:grpSpPr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E9E30AB5-7794-4199-95A3-1C5C250A6D62}"/>
                  </a:ext>
                </a:extLst>
              </p:cNvPr>
              <p:cNvSpPr/>
              <p:nvPr/>
            </p:nvSpPr>
            <p:spPr>
              <a:xfrm>
                <a:off x="0" y="0"/>
                <a:ext cx="1861312" cy="1881632"/>
              </a:xfrm>
              <a:custGeom>
                <a:avLst/>
                <a:gdLst/>
                <a:ahLst/>
                <a:cxnLst/>
                <a:rect l="l" t="t" r="r" b="b"/>
                <a:pathLst>
                  <a:path w="1861312" h="1881632">
                    <a:moveTo>
                      <a:pt x="882523" y="450723"/>
                    </a:moveTo>
                    <a:cubicBezTo>
                      <a:pt x="644144" y="450723"/>
                      <a:pt x="450850" y="648335"/>
                      <a:pt x="450850" y="892302"/>
                    </a:cubicBezTo>
                    <a:cubicBezTo>
                      <a:pt x="450850" y="1136269"/>
                      <a:pt x="644144" y="1333881"/>
                      <a:pt x="882523" y="1333881"/>
                    </a:cubicBezTo>
                    <a:cubicBezTo>
                      <a:pt x="1120902" y="1333881"/>
                      <a:pt x="1314196" y="1136269"/>
                      <a:pt x="1314196" y="892302"/>
                    </a:cubicBezTo>
                    <a:cubicBezTo>
                      <a:pt x="1314196" y="648335"/>
                      <a:pt x="1120902" y="450723"/>
                      <a:pt x="882523" y="450723"/>
                    </a:cubicBezTo>
                    <a:close/>
                    <a:moveTo>
                      <a:pt x="882523" y="312166"/>
                    </a:moveTo>
                    <a:cubicBezTo>
                      <a:pt x="1197483" y="312166"/>
                      <a:pt x="1452753" y="571881"/>
                      <a:pt x="1452753" y="892302"/>
                    </a:cubicBezTo>
                    <a:cubicBezTo>
                      <a:pt x="1452753" y="1212723"/>
                      <a:pt x="1197483" y="1472438"/>
                      <a:pt x="882523" y="1472438"/>
                    </a:cubicBezTo>
                    <a:cubicBezTo>
                      <a:pt x="567563" y="1472438"/>
                      <a:pt x="312293" y="1212723"/>
                      <a:pt x="312293" y="892302"/>
                    </a:cubicBezTo>
                    <a:cubicBezTo>
                      <a:pt x="312293" y="571881"/>
                      <a:pt x="567563" y="312166"/>
                      <a:pt x="882523" y="312166"/>
                    </a:cubicBezTo>
                    <a:close/>
                    <a:moveTo>
                      <a:pt x="0" y="0"/>
                    </a:moveTo>
                    <a:lnTo>
                      <a:pt x="0" y="1881632"/>
                    </a:lnTo>
                    <a:lnTo>
                      <a:pt x="1861312" y="1881632"/>
                    </a:lnTo>
                    <a:lnTo>
                      <a:pt x="1861312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</p:spPr>
          </p:sp>
        </p:grp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6981BB64-C904-473A-8717-AA6B7EEEAAD1}"/>
                </a:ext>
              </a:extLst>
            </p:cNvPr>
            <p:cNvSpPr/>
            <p:nvPr/>
          </p:nvSpPr>
          <p:spPr>
            <a:xfrm>
              <a:off x="792213" y="1502312"/>
              <a:ext cx="995105" cy="1009860"/>
            </a:xfrm>
            <a:custGeom>
              <a:avLst/>
              <a:gdLst/>
              <a:ahLst/>
              <a:cxnLst/>
              <a:rect l="l" t="t" r="r" b="b"/>
              <a:pathLst>
                <a:path w="995105" h="1009860">
                  <a:moveTo>
                    <a:pt x="0" y="0"/>
                  </a:moveTo>
                  <a:lnTo>
                    <a:pt x="995106" y="0"/>
                  </a:lnTo>
                  <a:lnTo>
                    <a:pt x="995106" y="1009859"/>
                  </a:lnTo>
                  <a:lnTo>
                    <a:pt x="0" y="1009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1" name="Group 19">
              <a:extLst>
                <a:ext uri="{FF2B5EF4-FFF2-40B4-BE49-F238E27FC236}">
                  <a16:creationId xmlns:a16="http://schemas.microsoft.com/office/drawing/2014/main" id="{0BBD0405-BDFD-4F2B-B4DD-63314787D7B2}"/>
                </a:ext>
              </a:extLst>
            </p:cNvPr>
            <p:cNvGrpSpPr/>
            <p:nvPr/>
          </p:nvGrpSpPr>
          <p:grpSpPr>
            <a:xfrm>
              <a:off x="8241792" y="2142744"/>
              <a:ext cx="1411224" cy="1423416"/>
              <a:chOff x="0" y="0"/>
              <a:chExt cx="1881632" cy="1897888"/>
            </a:xfrm>
          </p:grpSpPr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id="{DB72C6DD-3F2A-47E1-AD23-2FEB3BC37FB7}"/>
                  </a:ext>
                </a:extLst>
              </p:cNvPr>
              <p:cNvSpPr/>
              <p:nvPr/>
            </p:nvSpPr>
            <p:spPr>
              <a:xfrm>
                <a:off x="0" y="0"/>
                <a:ext cx="1881632" cy="1897888"/>
              </a:xfrm>
              <a:custGeom>
                <a:avLst/>
                <a:gdLst/>
                <a:ahLst/>
                <a:cxnLst/>
                <a:rect l="l" t="t" r="r" b="b"/>
                <a:pathLst>
                  <a:path w="1881632" h="1897888">
                    <a:moveTo>
                      <a:pt x="498983" y="0"/>
                    </a:moveTo>
                    <a:cubicBezTo>
                      <a:pt x="566420" y="153797"/>
                      <a:pt x="717423" y="260858"/>
                      <a:pt x="892937" y="260858"/>
                    </a:cubicBezTo>
                    <a:cubicBezTo>
                      <a:pt x="1068451" y="260858"/>
                      <a:pt x="1219454" y="153797"/>
                      <a:pt x="1286891" y="0"/>
                    </a:cubicBezTo>
                    <a:close/>
                    <a:moveTo>
                      <a:pt x="0" y="0"/>
                    </a:moveTo>
                    <a:lnTo>
                      <a:pt x="0" y="1897888"/>
                    </a:lnTo>
                    <a:lnTo>
                      <a:pt x="1881632" y="1897888"/>
                    </a:lnTo>
                    <a:lnTo>
                      <a:pt x="1881632" y="0"/>
                    </a:lnTo>
                    <a:lnTo>
                      <a:pt x="1434973" y="0"/>
                    </a:lnTo>
                    <a:cubicBezTo>
                      <a:pt x="1360297" y="231902"/>
                      <a:pt x="1145794" y="399415"/>
                      <a:pt x="892937" y="399415"/>
                    </a:cubicBezTo>
                    <a:cubicBezTo>
                      <a:pt x="640080" y="399415"/>
                      <a:pt x="425577" y="231902"/>
                      <a:pt x="350901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/>
                </a:stretch>
              </a:blipFill>
            </p:spPr>
          </p:sp>
        </p:grpSp>
        <p:grpSp>
          <p:nvGrpSpPr>
            <p:cNvPr id="52" name="Group 21">
              <a:extLst>
                <a:ext uri="{FF2B5EF4-FFF2-40B4-BE49-F238E27FC236}">
                  <a16:creationId xmlns:a16="http://schemas.microsoft.com/office/drawing/2014/main" id="{CFC7E2DC-98FC-4B93-9EA2-4A0EA8B54FA5}"/>
                </a:ext>
              </a:extLst>
            </p:cNvPr>
            <p:cNvGrpSpPr/>
            <p:nvPr/>
          </p:nvGrpSpPr>
          <p:grpSpPr>
            <a:xfrm>
              <a:off x="8247888" y="1338072"/>
              <a:ext cx="1395984" cy="1411224"/>
              <a:chOff x="0" y="0"/>
              <a:chExt cx="1861312" cy="1881632"/>
            </a:xfrm>
          </p:grpSpPr>
          <p:sp>
            <p:nvSpPr>
              <p:cNvPr id="85" name="Freeform 22">
                <a:extLst>
                  <a:ext uri="{FF2B5EF4-FFF2-40B4-BE49-F238E27FC236}">
                    <a16:creationId xmlns:a16="http://schemas.microsoft.com/office/drawing/2014/main" id="{4D322123-64C4-4B6B-B89E-326193941DEC}"/>
                  </a:ext>
                </a:extLst>
              </p:cNvPr>
              <p:cNvSpPr/>
              <p:nvPr/>
            </p:nvSpPr>
            <p:spPr>
              <a:xfrm>
                <a:off x="0" y="0"/>
                <a:ext cx="1861312" cy="1881632"/>
              </a:xfrm>
              <a:custGeom>
                <a:avLst/>
                <a:gdLst/>
                <a:ahLst/>
                <a:cxnLst/>
                <a:rect l="l" t="t" r="r" b="b"/>
                <a:pathLst>
                  <a:path w="1861312" h="1881632">
                    <a:moveTo>
                      <a:pt x="884809" y="450723"/>
                    </a:moveTo>
                    <a:cubicBezTo>
                      <a:pt x="646430" y="450723"/>
                      <a:pt x="453136" y="648335"/>
                      <a:pt x="453136" y="892302"/>
                    </a:cubicBezTo>
                    <a:cubicBezTo>
                      <a:pt x="453136" y="1136269"/>
                      <a:pt x="646430" y="1333881"/>
                      <a:pt x="884809" y="1333881"/>
                    </a:cubicBezTo>
                    <a:cubicBezTo>
                      <a:pt x="1123188" y="1333881"/>
                      <a:pt x="1316482" y="1136269"/>
                      <a:pt x="1316482" y="892302"/>
                    </a:cubicBezTo>
                    <a:cubicBezTo>
                      <a:pt x="1316482" y="648335"/>
                      <a:pt x="1123188" y="450723"/>
                      <a:pt x="884809" y="450723"/>
                    </a:cubicBezTo>
                    <a:close/>
                    <a:moveTo>
                      <a:pt x="884809" y="312166"/>
                    </a:moveTo>
                    <a:cubicBezTo>
                      <a:pt x="1199769" y="312166"/>
                      <a:pt x="1455039" y="571881"/>
                      <a:pt x="1455039" y="892302"/>
                    </a:cubicBezTo>
                    <a:cubicBezTo>
                      <a:pt x="1455039" y="1212723"/>
                      <a:pt x="1199769" y="1472438"/>
                      <a:pt x="884809" y="1472438"/>
                    </a:cubicBezTo>
                    <a:cubicBezTo>
                      <a:pt x="569849" y="1472438"/>
                      <a:pt x="314579" y="1212723"/>
                      <a:pt x="314579" y="892302"/>
                    </a:cubicBezTo>
                    <a:cubicBezTo>
                      <a:pt x="314579" y="571881"/>
                      <a:pt x="569849" y="312166"/>
                      <a:pt x="884809" y="312166"/>
                    </a:cubicBezTo>
                    <a:close/>
                    <a:moveTo>
                      <a:pt x="0" y="0"/>
                    </a:moveTo>
                    <a:lnTo>
                      <a:pt x="0" y="1881632"/>
                    </a:lnTo>
                    <a:lnTo>
                      <a:pt x="1861312" y="1881632"/>
                    </a:lnTo>
                    <a:lnTo>
                      <a:pt x="1861312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/>
                </a:stretch>
              </a:blipFill>
            </p:spPr>
          </p:sp>
        </p:grp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024BFE49-AAAC-4CF7-99D9-1D33B744667C}"/>
                </a:ext>
              </a:extLst>
            </p:cNvPr>
            <p:cNvSpPr/>
            <p:nvPr/>
          </p:nvSpPr>
          <p:spPr>
            <a:xfrm>
              <a:off x="8413956" y="1502312"/>
              <a:ext cx="995105" cy="1009860"/>
            </a:xfrm>
            <a:custGeom>
              <a:avLst/>
              <a:gdLst/>
              <a:ahLst/>
              <a:cxnLst/>
              <a:rect l="l" t="t" r="r" b="b"/>
              <a:pathLst>
                <a:path w="995105" h="1009860">
                  <a:moveTo>
                    <a:pt x="0" y="0"/>
                  </a:moveTo>
                  <a:lnTo>
                    <a:pt x="995106" y="0"/>
                  </a:lnTo>
                  <a:lnTo>
                    <a:pt x="995106" y="1009859"/>
                  </a:lnTo>
                  <a:lnTo>
                    <a:pt x="0" y="1009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4" name="Group 24">
              <a:extLst>
                <a:ext uri="{FF2B5EF4-FFF2-40B4-BE49-F238E27FC236}">
                  <a16:creationId xmlns:a16="http://schemas.microsoft.com/office/drawing/2014/main" id="{5CAADBD8-1D5A-44A2-A9C4-5B0160B1D43B}"/>
                </a:ext>
              </a:extLst>
            </p:cNvPr>
            <p:cNvGrpSpPr/>
            <p:nvPr/>
          </p:nvGrpSpPr>
          <p:grpSpPr>
            <a:xfrm>
              <a:off x="6257544" y="1536192"/>
              <a:ext cx="999744" cy="999744"/>
              <a:chOff x="0" y="0"/>
              <a:chExt cx="1332992" cy="1332992"/>
            </a:xfrm>
          </p:grpSpPr>
          <p:sp>
            <p:nvSpPr>
              <p:cNvPr id="84" name="Freeform 25">
                <a:extLst>
                  <a:ext uri="{FF2B5EF4-FFF2-40B4-BE49-F238E27FC236}">
                    <a16:creationId xmlns:a16="http://schemas.microsoft.com/office/drawing/2014/main" id="{5CCB73F6-5EB3-42D9-A63E-56E79FE278F2}"/>
                  </a:ext>
                </a:extLst>
              </p:cNvPr>
              <p:cNvSpPr/>
              <p:nvPr/>
            </p:nvSpPr>
            <p:spPr>
              <a:xfrm>
                <a:off x="0" y="0"/>
                <a:ext cx="1332992" cy="1332992"/>
              </a:xfrm>
              <a:custGeom>
                <a:avLst/>
                <a:gdLst/>
                <a:ahLst/>
                <a:cxnLst/>
                <a:rect l="l" t="t" r="r" b="b"/>
                <a:pathLst>
                  <a:path w="1332992" h="1332992">
                    <a:moveTo>
                      <a:pt x="0" y="0"/>
                    </a:moveTo>
                    <a:lnTo>
                      <a:pt x="1332992" y="0"/>
                    </a:lnTo>
                    <a:lnTo>
                      <a:pt x="1332992" y="1332992"/>
                    </a:lnTo>
                    <a:lnTo>
                      <a:pt x="0" y="13329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9"/>
                <a:stretch>
                  <a:fillRect/>
                </a:stretch>
              </a:blipFill>
            </p:spPr>
          </p:sp>
        </p:grpSp>
        <p:grpSp>
          <p:nvGrpSpPr>
            <p:cNvPr id="55" name="Group 26">
              <a:extLst>
                <a:ext uri="{FF2B5EF4-FFF2-40B4-BE49-F238E27FC236}">
                  <a16:creationId xmlns:a16="http://schemas.microsoft.com/office/drawing/2014/main" id="{15F0BB9E-E861-41C4-ADFD-504413BBE0B4}"/>
                </a:ext>
              </a:extLst>
            </p:cNvPr>
            <p:cNvGrpSpPr/>
            <p:nvPr/>
          </p:nvGrpSpPr>
          <p:grpSpPr>
            <a:xfrm>
              <a:off x="6547104" y="1825752"/>
              <a:ext cx="362712" cy="362712"/>
              <a:chOff x="0" y="0"/>
              <a:chExt cx="483616" cy="483616"/>
            </a:xfrm>
          </p:grpSpPr>
          <p:sp>
            <p:nvSpPr>
              <p:cNvPr id="83" name="Freeform 27">
                <a:extLst>
                  <a:ext uri="{FF2B5EF4-FFF2-40B4-BE49-F238E27FC236}">
                    <a16:creationId xmlns:a16="http://schemas.microsoft.com/office/drawing/2014/main" id="{35AFCACA-6331-4810-B8D2-673A3CEB9D7F}"/>
                  </a:ext>
                </a:extLst>
              </p:cNvPr>
              <p:cNvSpPr/>
              <p:nvPr/>
            </p:nvSpPr>
            <p:spPr>
              <a:xfrm>
                <a:off x="0" y="0"/>
                <a:ext cx="483616" cy="483616"/>
              </a:xfrm>
              <a:custGeom>
                <a:avLst/>
                <a:gdLst/>
                <a:ahLst/>
                <a:cxnLst/>
                <a:rect l="l" t="t" r="r" b="b"/>
                <a:pathLst>
                  <a:path w="483616" h="483616">
                    <a:moveTo>
                      <a:pt x="0" y="0"/>
                    </a:moveTo>
                    <a:lnTo>
                      <a:pt x="483616" y="0"/>
                    </a:lnTo>
                    <a:lnTo>
                      <a:pt x="483616" y="483616"/>
                    </a:lnTo>
                    <a:lnTo>
                      <a:pt x="0" y="4836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/>
                </a:stretch>
              </a:blipFill>
            </p:spPr>
          </p:sp>
        </p:grpSp>
        <p:grpSp>
          <p:nvGrpSpPr>
            <p:cNvPr id="56" name="Group 28">
              <a:extLst>
                <a:ext uri="{FF2B5EF4-FFF2-40B4-BE49-F238E27FC236}">
                  <a16:creationId xmlns:a16="http://schemas.microsoft.com/office/drawing/2014/main" id="{08E519FD-8C18-4955-9BD4-2349366A69FD}"/>
                </a:ext>
              </a:extLst>
            </p:cNvPr>
            <p:cNvGrpSpPr/>
            <p:nvPr/>
          </p:nvGrpSpPr>
          <p:grpSpPr>
            <a:xfrm>
              <a:off x="6065520" y="2142744"/>
              <a:ext cx="1411224" cy="1423416"/>
              <a:chOff x="0" y="0"/>
              <a:chExt cx="1881632" cy="1897888"/>
            </a:xfrm>
          </p:grpSpPr>
          <p:sp>
            <p:nvSpPr>
              <p:cNvPr id="82" name="Freeform 29">
                <a:extLst>
                  <a:ext uri="{FF2B5EF4-FFF2-40B4-BE49-F238E27FC236}">
                    <a16:creationId xmlns:a16="http://schemas.microsoft.com/office/drawing/2014/main" id="{23638050-3391-4C04-AE3C-66ACB7A11530}"/>
                  </a:ext>
                </a:extLst>
              </p:cNvPr>
              <p:cNvSpPr/>
              <p:nvPr/>
            </p:nvSpPr>
            <p:spPr>
              <a:xfrm>
                <a:off x="0" y="0"/>
                <a:ext cx="1881632" cy="1897888"/>
              </a:xfrm>
              <a:custGeom>
                <a:avLst/>
                <a:gdLst/>
                <a:ahLst/>
                <a:cxnLst/>
                <a:rect l="l" t="t" r="r" b="b"/>
                <a:pathLst>
                  <a:path w="1881632" h="1897888">
                    <a:moveTo>
                      <a:pt x="499999" y="0"/>
                    </a:moveTo>
                    <a:cubicBezTo>
                      <a:pt x="567563" y="153797"/>
                      <a:pt x="718566" y="260858"/>
                      <a:pt x="893953" y="260858"/>
                    </a:cubicBezTo>
                    <a:cubicBezTo>
                      <a:pt x="1069340" y="260858"/>
                      <a:pt x="1220470" y="153797"/>
                      <a:pt x="1288034" y="0"/>
                    </a:cubicBezTo>
                    <a:close/>
                    <a:moveTo>
                      <a:pt x="0" y="0"/>
                    </a:moveTo>
                    <a:lnTo>
                      <a:pt x="0" y="1897888"/>
                    </a:lnTo>
                    <a:lnTo>
                      <a:pt x="1881632" y="1897888"/>
                    </a:lnTo>
                    <a:lnTo>
                      <a:pt x="1881632" y="0"/>
                    </a:lnTo>
                    <a:lnTo>
                      <a:pt x="1436116" y="0"/>
                    </a:lnTo>
                    <a:cubicBezTo>
                      <a:pt x="1361440" y="231902"/>
                      <a:pt x="1146937" y="399415"/>
                      <a:pt x="893953" y="399415"/>
                    </a:cubicBezTo>
                    <a:cubicBezTo>
                      <a:pt x="640969" y="399415"/>
                      <a:pt x="426593" y="231902"/>
                      <a:pt x="351917" y="0"/>
                    </a:cubicBezTo>
                    <a:close/>
                  </a:path>
                </a:pathLst>
              </a:custGeom>
              <a:blipFill>
                <a:blip r:embed="rId21"/>
                <a:stretch>
                  <a:fillRect/>
                </a:stretch>
              </a:blipFill>
            </p:spPr>
          </p:sp>
        </p:grpSp>
        <p:grpSp>
          <p:nvGrpSpPr>
            <p:cNvPr id="57" name="Group 30">
              <a:extLst>
                <a:ext uri="{FF2B5EF4-FFF2-40B4-BE49-F238E27FC236}">
                  <a16:creationId xmlns:a16="http://schemas.microsoft.com/office/drawing/2014/main" id="{EBD48035-769E-42DC-8092-9163B7842A05}"/>
                </a:ext>
              </a:extLst>
            </p:cNvPr>
            <p:cNvGrpSpPr/>
            <p:nvPr/>
          </p:nvGrpSpPr>
          <p:grpSpPr>
            <a:xfrm>
              <a:off x="6074664" y="1338072"/>
              <a:ext cx="1395984" cy="1411224"/>
              <a:chOff x="0" y="0"/>
              <a:chExt cx="1861312" cy="1881632"/>
            </a:xfrm>
          </p:grpSpPr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B478AB06-3233-4489-996D-C11DB187654D}"/>
                  </a:ext>
                </a:extLst>
              </p:cNvPr>
              <p:cNvSpPr/>
              <p:nvPr/>
            </p:nvSpPr>
            <p:spPr>
              <a:xfrm>
                <a:off x="0" y="0"/>
                <a:ext cx="1861312" cy="1881632"/>
              </a:xfrm>
              <a:custGeom>
                <a:avLst/>
                <a:gdLst/>
                <a:ahLst/>
                <a:cxnLst/>
                <a:rect l="l" t="t" r="r" b="b"/>
                <a:pathLst>
                  <a:path w="1861312" h="1881632">
                    <a:moveTo>
                      <a:pt x="881761" y="450723"/>
                    </a:moveTo>
                    <a:cubicBezTo>
                      <a:pt x="643382" y="450723"/>
                      <a:pt x="450088" y="648335"/>
                      <a:pt x="450088" y="892302"/>
                    </a:cubicBezTo>
                    <a:cubicBezTo>
                      <a:pt x="450088" y="1136269"/>
                      <a:pt x="643382" y="1333881"/>
                      <a:pt x="881761" y="1333881"/>
                    </a:cubicBezTo>
                    <a:cubicBezTo>
                      <a:pt x="1120140" y="1333881"/>
                      <a:pt x="1313434" y="1136269"/>
                      <a:pt x="1313434" y="892302"/>
                    </a:cubicBezTo>
                    <a:cubicBezTo>
                      <a:pt x="1313434" y="648335"/>
                      <a:pt x="1120267" y="450723"/>
                      <a:pt x="881761" y="450723"/>
                    </a:cubicBezTo>
                    <a:close/>
                    <a:moveTo>
                      <a:pt x="881761" y="312166"/>
                    </a:moveTo>
                    <a:cubicBezTo>
                      <a:pt x="1196721" y="312166"/>
                      <a:pt x="1451991" y="571881"/>
                      <a:pt x="1451991" y="892302"/>
                    </a:cubicBezTo>
                    <a:cubicBezTo>
                      <a:pt x="1451991" y="1212723"/>
                      <a:pt x="1196721" y="1472438"/>
                      <a:pt x="881761" y="1472438"/>
                    </a:cubicBezTo>
                    <a:cubicBezTo>
                      <a:pt x="566801" y="1472438"/>
                      <a:pt x="311531" y="1212723"/>
                      <a:pt x="311531" y="892302"/>
                    </a:cubicBezTo>
                    <a:cubicBezTo>
                      <a:pt x="311531" y="571881"/>
                      <a:pt x="566801" y="312166"/>
                      <a:pt x="881761" y="312166"/>
                    </a:cubicBezTo>
                    <a:close/>
                    <a:moveTo>
                      <a:pt x="0" y="0"/>
                    </a:moveTo>
                    <a:lnTo>
                      <a:pt x="0" y="1881632"/>
                    </a:lnTo>
                    <a:lnTo>
                      <a:pt x="1861312" y="1881632"/>
                    </a:lnTo>
                    <a:lnTo>
                      <a:pt x="1861312" y="0"/>
                    </a:lnTo>
                    <a:close/>
                  </a:path>
                </a:pathLst>
              </a:custGeom>
              <a:blipFill>
                <a:blip r:embed="rId22"/>
                <a:stretch>
                  <a:fillRect/>
                </a:stretch>
              </a:blipFill>
            </p:spPr>
          </p:sp>
        </p:grpSp>
        <p:sp>
          <p:nvSpPr>
            <p:cNvPr id="58" name="Freeform 32">
              <a:extLst>
                <a:ext uri="{FF2B5EF4-FFF2-40B4-BE49-F238E27FC236}">
                  <a16:creationId xmlns:a16="http://schemas.microsoft.com/office/drawing/2014/main" id="{17FD2910-992B-495D-B6FD-E644C857BA34}"/>
                </a:ext>
              </a:extLst>
            </p:cNvPr>
            <p:cNvSpPr/>
            <p:nvPr/>
          </p:nvSpPr>
          <p:spPr>
            <a:xfrm>
              <a:off x="6238465" y="1502312"/>
              <a:ext cx="995105" cy="1009860"/>
            </a:xfrm>
            <a:custGeom>
              <a:avLst/>
              <a:gdLst/>
              <a:ahLst/>
              <a:cxnLst/>
              <a:rect l="l" t="t" r="r" b="b"/>
              <a:pathLst>
                <a:path w="995105" h="1009860">
                  <a:moveTo>
                    <a:pt x="0" y="0"/>
                  </a:moveTo>
                  <a:lnTo>
                    <a:pt x="995106" y="0"/>
                  </a:lnTo>
                  <a:lnTo>
                    <a:pt x="995106" y="1009859"/>
                  </a:lnTo>
                  <a:lnTo>
                    <a:pt x="0" y="1009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9" name="Group 33">
              <a:extLst>
                <a:ext uri="{FF2B5EF4-FFF2-40B4-BE49-F238E27FC236}">
                  <a16:creationId xmlns:a16="http://schemas.microsoft.com/office/drawing/2014/main" id="{67CF5452-6F98-4158-9CC3-C307FF13FB03}"/>
                </a:ext>
              </a:extLst>
            </p:cNvPr>
            <p:cNvGrpSpPr/>
            <p:nvPr/>
          </p:nvGrpSpPr>
          <p:grpSpPr>
            <a:xfrm>
              <a:off x="3892296" y="2130552"/>
              <a:ext cx="1408176" cy="1423416"/>
              <a:chOff x="0" y="0"/>
              <a:chExt cx="1877568" cy="1897888"/>
            </a:xfrm>
          </p:grpSpPr>
          <p:sp>
            <p:nvSpPr>
              <p:cNvPr id="80" name="Freeform 34">
                <a:extLst>
                  <a:ext uri="{FF2B5EF4-FFF2-40B4-BE49-F238E27FC236}">
                    <a16:creationId xmlns:a16="http://schemas.microsoft.com/office/drawing/2014/main" id="{8EF6EDD6-3756-43E9-81E3-222E131C1093}"/>
                  </a:ext>
                </a:extLst>
              </p:cNvPr>
              <p:cNvSpPr/>
              <p:nvPr/>
            </p:nvSpPr>
            <p:spPr>
              <a:xfrm>
                <a:off x="0" y="0"/>
                <a:ext cx="1877568" cy="1897888"/>
              </a:xfrm>
              <a:custGeom>
                <a:avLst/>
                <a:gdLst/>
                <a:ahLst/>
                <a:cxnLst/>
                <a:rect l="l" t="t" r="r" b="b"/>
                <a:pathLst>
                  <a:path w="1877568" h="1897888">
                    <a:moveTo>
                      <a:pt x="495681" y="0"/>
                    </a:moveTo>
                    <a:cubicBezTo>
                      <a:pt x="562991" y="154432"/>
                      <a:pt x="714248" y="262001"/>
                      <a:pt x="890143" y="262001"/>
                    </a:cubicBezTo>
                    <a:cubicBezTo>
                      <a:pt x="1066038" y="262001"/>
                      <a:pt x="1217549" y="154432"/>
                      <a:pt x="1284732" y="0"/>
                    </a:cubicBezTo>
                    <a:close/>
                    <a:moveTo>
                      <a:pt x="0" y="0"/>
                    </a:moveTo>
                    <a:lnTo>
                      <a:pt x="0" y="1897888"/>
                    </a:lnTo>
                    <a:lnTo>
                      <a:pt x="1877568" y="1897888"/>
                    </a:lnTo>
                    <a:lnTo>
                      <a:pt x="1877568" y="0"/>
                    </a:lnTo>
                    <a:lnTo>
                      <a:pt x="1432687" y="0"/>
                    </a:lnTo>
                    <a:cubicBezTo>
                      <a:pt x="1358392" y="232537"/>
                      <a:pt x="1143635" y="400558"/>
                      <a:pt x="890270" y="400558"/>
                    </a:cubicBezTo>
                    <a:cubicBezTo>
                      <a:pt x="636905" y="400558"/>
                      <a:pt x="422021" y="232537"/>
                      <a:pt x="347726" y="0"/>
                    </a:cubicBezTo>
                    <a:close/>
                  </a:path>
                </a:pathLst>
              </a:custGeom>
              <a:blipFill>
                <a:blip r:embed="rId24"/>
                <a:stretch>
                  <a:fillRect/>
                </a:stretch>
              </a:blipFill>
            </p:spPr>
          </p:sp>
        </p:grpSp>
        <p:grpSp>
          <p:nvGrpSpPr>
            <p:cNvPr id="60" name="Group 35">
              <a:extLst>
                <a:ext uri="{FF2B5EF4-FFF2-40B4-BE49-F238E27FC236}">
                  <a16:creationId xmlns:a16="http://schemas.microsoft.com/office/drawing/2014/main" id="{48991364-25CF-417B-B5C1-2F58635E6BDD}"/>
                </a:ext>
              </a:extLst>
            </p:cNvPr>
            <p:cNvGrpSpPr/>
            <p:nvPr/>
          </p:nvGrpSpPr>
          <p:grpSpPr>
            <a:xfrm>
              <a:off x="3898392" y="1325880"/>
              <a:ext cx="1395984" cy="1411224"/>
              <a:chOff x="0" y="0"/>
              <a:chExt cx="1861312" cy="1881632"/>
            </a:xfrm>
          </p:grpSpPr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C424109B-9AA3-495A-B243-B06BB88FF221}"/>
                  </a:ext>
                </a:extLst>
              </p:cNvPr>
              <p:cNvSpPr/>
              <p:nvPr/>
            </p:nvSpPr>
            <p:spPr>
              <a:xfrm>
                <a:off x="0" y="0"/>
                <a:ext cx="1861312" cy="1881632"/>
              </a:xfrm>
              <a:custGeom>
                <a:avLst/>
                <a:gdLst/>
                <a:ahLst/>
                <a:cxnLst/>
                <a:rect l="l" t="t" r="r" b="b"/>
                <a:pathLst>
                  <a:path w="1861312" h="1881632">
                    <a:moveTo>
                      <a:pt x="882142" y="451866"/>
                    </a:moveTo>
                    <a:cubicBezTo>
                      <a:pt x="643763" y="451866"/>
                      <a:pt x="450469" y="649478"/>
                      <a:pt x="450469" y="893445"/>
                    </a:cubicBezTo>
                    <a:cubicBezTo>
                      <a:pt x="450469" y="1137412"/>
                      <a:pt x="643763" y="1335024"/>
                      <a:pt x="882142" y="1335024"/>
                    </a:cubicBezTo>
                    <a:cubicBezTo>
                      <a:pt x="1120521" y="1335024"/>
                      <a:pt x="1313815" y="1137412"/>
                      <a:pt x="1313815" y="893445"/>
                    </a:cubicBezTo>
                    <a:cubicBezTo>
                      <a:pt x="1313815" y="649478"/>
                      <a:pt x="1120521" y="451866"/>
                      <a:pt x="882142" y="451866"/>
                    </a:cubicBezTo>
                    <a:close/>
                    <a:moveTo>
                      <a:pt x="882142" y="313309"/>
                    </a:moveTo>
                    <a:cubicBezTo>
                      <a:pt x="1197102" y="313309"/>
                      <a:pt x="1452372" y="573024"/>
                      <a:pt x="1452372" y="893445"/>
                    </a:cubicBezTo>
                    <a:cubicBezTo>
                      <a:pt x="1452372" y="1213866"/>
                      <a:pt x="1197102" y="1473581"/>
                      <a:pt x="882142" y="1473581"/>
                    </a:cubicBezTo>
                    <a:cubicBezTo>
                      <a:pt x="567182" y="1473581"/>
                      <a:pt x="311912" y="1213866"/>
                      <a:pt x="311912" y="893445"/>
                    </a:cubicBezTo>
                    <a:cubicBezTo>
                      <a:pt x="311912" y="573024"/>
                      <a:pt x="567182" y="313309"/>
                      <a:pt x="882142" y="313309"/>
                    </a:cubicBezTo>
                    <a:close/>
                    <a:moveTo>
                      <a:pt x="0" y="0"/>
                    </a:moveTo>
                    <a:lnTo>
                      <a:pt x="0" y="1881632"/>
                    </a:lnTo>
                    <a:lnTo>
                      <a:pt x="1861312" y="1881632"/>
                    </a:lnTo>
                    <a:lnTo>
                      <a:pt x="1861312" y="0"/>
                    </a:lnTo>
                    <a:close/>
                  </a:path>
                </a:pathLst>
              </a:custGeom>
              <a:blipFill>
                <a:blip r:embed="rId25"/>
                <a:stretch>
                  <a:fillRect/>
                </a:stretch>
              </a:blipFill>
            </p:spPr>
          </p:sp>
        </p:grpSp>
        <p:sp>
          <p:nvSpPr>
            <p:cNvPr id="61" name="Freeform 37">
              <a:extLst>
                <a:ext uri="{FF2B5EF4-FFF2-40B4-BE49-F238E27FC236}">
                  <a16:creationId xmlns:a16="http://schemas.microsoft.com/office/drawing/2014/main" id="{872DA5E7-4E72-4268-83A5-1499F21A9651}"/>
                </a:ext>
              </a:extLst>
            </p:cNvPr>
            <p:cNvSpPr/>
            <p:nvPr/>
          </p:nvSpPr>
          <p:spPr>
            <a:xfrm>
              <a:off x="4062403" y="1491005"/>
              <a:ext cx="995105" cy="1009860"/>
            </a:xfrm>
            <a:custGeom>
              <a:avLst/>
              <a:gdLst/>
              <a:ahLst/>
              <a:cxnLst/>
              <a:rect l="l" t="t" r="r" b="b"/>
              <a:pathLst>
                <a:path w="995105" h="1009860">
                  <a:moveTo>
                    <a:pt x="0" y="0"/>
                  </a:moveTo>
                  <a:lnTo>
                    <a:pt x="995105" y="0"/>
                  </a:lnTo>
                  <a:lnTo>
                    <a:pt x="995105" y="1009860"/>
                  </a:lnTo>
                  <a:lnTo>
                    <a:pt x="0" y="1009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2" name="Group 38">
              <a:extLst>
                <a:ext uri="{FF2B5EF4-FFF2-40B4-BE49-F238E27FC236}">
                  <a16:creationId xmlns:a16="http://schemas.microsoft.com/office/drawing/2014/main" id="{51300E80-EAEC-4B21-A03B-189871BF8CAB}"/>
                </a:ext>
              </a:extLst>
            </p:cNvPr>
            <p:cNvGrpSpPr/>
            <p:nvPr/>
          </p:nvGrpSpPr>
          <p:grpSpPr>
            <a:xfrm>
              <a:off x="816864" y="1536192"/>
              <a:ext cx="1002792" cy="999744"/>
              <a:chOff x="0" y="0"/>
              <a:chExt cx="1337056" cy="1332992"/>
            </a:xfrm>
          </p:grpSpPr>
          <p:sp>
            <p:nvSpPr>
              <p:cNvPr id="78" name="Freeform 39">
                <a:extLst>
                  <a:ext uri="{FF2B5EF4-FFF2-40B4-BE49-F238E27FC236}">
                    <a16:creationId xmlns:a16="http://schemas.microsoft.com/office/drawing/2014/main" id="{1530FFE1-D891-40BB-A8C0-B5CABE5DCDD2}"/>
                  </a:ext>
                </a:extLst>
              </p:cNvPr>
              <p:cNvSpPr/>
              <p:nvPr/>
            </p:nvSpPr>
            <p:spPr>
              <a:xfrm>
                <a:off x="0" y="0"/>
                <a:ext cx="1337056" cy="1332992"/>
              </a:xfrm>
              <a:custGeom>
                <a:avLst/>
                <a:gdLst/>
                <a:ahLst/>
                <a:cxnLst/>
                <a:rect l="l" t="t" r="r" b="b"/>
                <a:pathLst>
                  <a:path w="1337056" h="1332992">
                    <a:moveTo>
                      <a:pt x="0" y="0"/>
                    </a:moveTo>
                    <a:lnTo>
                      <a:pt x="1337056" y="0"/>
                    </a:lnTo>
                    <a:lnTo>
                      <a:pt x="1337056" y="1332992"/>
                    </a:lnTo>
                    <a:lnTo>
                      <a:pt x="0" y="13329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/>
                </a:stretch>
              </a:blipFill>
            </p:spPr>
          </p:sp>
        </p:grpSp>
        <p:grpSp>
          <p:nvGrpSpPr>
            <p:cNvPr id="63" name="Group 40">
              <a:extLst>
                <a:ext uri="{FF2B5EF4-FFF2-40B4-BE49-F238E27FC236}">
                  <a16:creationId xmlns:a16="http://schemas.microsoft.com/office/drawing/2014/main" id="{D05B9B48-DE42-4A05-99FC-341692681FB0}"/>
                </a:ext>
              </a:extLst>
            </p:cNvPr>
            <p:cNvGrpSpPr/>
            <p:nvPr/>
          </p:nvGrpSpPr>
          <p:grpSpPr>
            <a:xfrm>
              <a:off x="1109472" y="1825752"/>
              <a:ext cx="362712" cy="362712"/>
              <a:chOff x="0" y="0"/>
              <a:chExt cx="483616" cy="483616"/>
            </a:xfrm>
          </p:grpSpPr>
          <p:sp>
            <p:nvSpPr>
              <p:cNvPr id="77" name="Freeform 41">
                <a:extLst>
                  <a:ext uri="{FF2B5EF4-FFF2-40B4-BE49-F238E27FC236}">
                    <a16:creationId xmlns:a16="http://schemas.microsoft.com/office/drawing/2014/main" id="{00C6FD04-462D-4BCC-BC6B-123CD9D03F26}"/>
                  </a:ext>
                </a:extLst>
              </p:cNvPr>
              <p:cNvSpPr/>
              <p:nvPr/>
            </p:nvSpPr>
            <p:spPr>
              <a:xfrm>
                <a:off x="0" y="0"/>
                <a:ext cx="483616" cy="483616"/>
              </a:xfrm>
              <a:custGeom>
                <a:avLst/>
                <a:gdLst/>
                <a:ahLst/>
                <a:cxnLst/>
                <a:rect l="l" t="t" r="r" b="b"/>
                <a:pathLst>
                  <a:path w="483616" h="483616">
                    <a:moveTo>
                      <a:pt x="0" y="0"/>
                    </a:moveTo>
                    <a:lnTo>
                      <a:pt x="483616" y="0"/>
                    </a:lnTo>
                    <a:lnTo>
                      <a:pt x="483616" y="483616"/>
                    </a:lnTo>
                    <a:lnTo>
                      <a:pt x="0" y="4836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8"/>
                <a:stretch>
                  <a:fillRect/>
                </a:stretch>
              </a:blipFill>
            </p:spPr>
          </p:sp>
        </p:grpSp>
        <p:grpSp>
          <p:nvGrpSpPr>
            <p:cNvPr id="64" name="Group 42">
              <a:extLst>
                <a:ext uri="{FF2B5EF4-FFF2-40B4-BE49-F238E27FC236}">
                  <a16:creationId xmlns:a16="http://schemas.microsoft.com/office/drawing/2014/main" id="{145CDCC1-3CBA-4F07-B0F3-CB1559DAB523}"/>
                </a:ext>
              </a:extLst>
            </p:cNvPr>
            <p:cNvGrpSpPr/>
            <p:nvPr/>
          </p:nvGrpSpPr>
          <p:grpSpPr>
            <a:xfrm>
              <a:off x="8671560" y="1740408"/>
              <a:ext cx="441960" cy="512064"/>
              <a:chOff x="0" y="0"/>
              <a:chExt cx="589280" cy="682752"/>
            </a:xfrm>
          </p:grpSpPr>
          <p:sp>
            <p:nvSpPr>
              <p:cNvPr id="76" name="Freeform 43">
                <a:extLst>
                  <a:ext uri="{FF2B5EF4-FFF2-40B4-BE49-F238E27FC236}">
                    <a16:creationId xmlns:a16="http://schemas.microsoft.com/office/drawing/2014/main" id="{B9608000-18F7-4454-95C4-8FF53C5DFF14}"/>
                  </a:ext>
                </a:extLst>
              </p:cNvPr>
              <p:cNvSpPr/>
              <p:nvPr/>
            </p:nvSpPr>
            <p:spPr>
              <a:xfrm>
                <a:off x="0" y="0"/>
                <a:ext cx="589280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589280" h="682752">
                    <a:moveTo>
                      <a:pt x="0" y="0"/>
                    </a:moveTo>
                    <a:lnTo>
                      <a:pt x="589280" y="0"/>
                    </a:lnTo>
                    <a:lnTo>
                      <a:pt x="589280" y="682752"/>
                    </a:lnTo>
                    <a:lnTo>
                      <a:pt x="0" y="6827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/>
                </a:stretch>
              </a:blipFill>
            </p:spPr>
          </p:sp>
        </p:grpSp>
        <p:grpSp>
          <p:nvGrpSpPr>
            <p:cNvPr id="65" name="Group 44">
              <a:extLst>
                <a:ext uri="{FF2B5EF4-FFF2-40B4-BE49-F238E27FC236}">
                  <a16:creationId xmlns:a16="http://schemas.microsoft.com/office/drawing/2014/main" id="{40EDED6B-E716-4DA4-8AE0-84386CE39B67}"/>
                </a:ext>
              </a:extLst>
            </p:cNvPr>
            <p:cNvGrpSpPr/>
            <p:nvPr/>
          </p:nvGrpSpPr>
          <p:grpSpPr>
            <a:xfrm>
              <a:off x="4264152" y="1645920"/>
              <a:ext cx="524256" cy="524256"/>
              <a:chOff x="0" y="0"/>
              <a:chExt cx="699008" cy="699008"/>
            </a:xfrm>
          </p:grpSpPr>
          <p:sp>
            <p:nvSpPr>
              <p:cNvPr id="75" name="Freeform 45">
                <a:extLst>
                  <a:ext uri="{FF2B5EF4-FFF2-40B4-BE49-F238E27FC236}">
                    <a16:creationId xmlns:a16="http://schemas.microsoft.com/office/drawing/2014/main" id="{1A918093-E5CF-4601-871E-F3C24037704A}"/>
                  </a:ext>
                </a:extLst>
              </p:cNvPr>
              <p:cNvSpPr/>
              <p:nvPr/>
            </p:nvSpPr>
            <p:spPr>
              <a:xfrm>
                <a:off x="0" y="0"/>
                <a:ext cx="699008" cy="699008"/>
              </a:xfrm>
              <a:custGeom>
                <a:avLst/>
                <a:gdLst/>
                <a:ahLst/>
                <a:cxnLst/>
                <a:rect l="l" t="t" r="r" b="b"/>
                <a:pathLst>
                  <a:path w="699008" h="699008">
                    <a:moveTo>
                      <a:pt x="0" y="0"/>
                    </a:moveTo>
                    <a:lnTo>
                      <a:pt x="699008" y="0"/>
                    </a:lnTo>
                    <a:lnTo>
                      <a:pt x="699008" y="699008"/>
                    </a:lnTo>
                    <a:lnTo>
                      <a:pt x="0" y="6990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/>
                <a:stretch>
                  <a:fillRect/>
                </a:stretch>
              </a:blipFill>
            </p:spPr>
          </p:sp>
        </p:grpSp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6FE892BC-F45E-4A0F-B919-FEAD4203050B}"/>
                </a:ext>
              </a:extLst>
            </p:cNvPr>
            <p:cNvSpPr/>
            <p:nvPr/>
          </p:nvSpPr>
          <p:spPr>
            <a:xfrm>
              <a:off x="4312329" y="1919154"/>
              <a:ext cx="432349" cy="374466"/>
            </a:xfrm>
            <a:custGeom>
              <a:avLst/>
              <a:gdLst/>
              <a:ahLst/>
              <a:cxnLst/>
              <a:rect l="l" t="t" r="r" b="b"/>
              <a:pathLst>
                <a:path w="432349" h="374466">
                  <a:moveTo>
                    <a:pt x="0" y="0"/>
                  </a:moveTo>
                  <a:lnTo>
                    <a:pt x="432350" y="0"/>
                  </a:lnTo>
                  <a:lnTo>
                    <a:pt x="432350" y="374466"/>
                  </a:lnTo>
                  <a:lnTo>
                    <a:pt x="0" y="374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7BD0815-767A-4717-8D4D-B41580929805}"/>
                </a:ext>
              </a:extLst>
            </p:cNvPr>
            <p:cNvSpPr/>
            <p:nvPr/>
          </p:nvSpPr>
          <p:spPr>
            <a:xfrm>
              <a:off x="918277" y="2486568"/>
              <a:ext cx="382981" cy="2041074"/>
            </a:xfrm>
            <a:custGeom>
              <a:avLst/>
              <a:gdLst/>
              <a:ahLst/>
              <a:cxnLst/>
              <a:rect l="l" t="t" r="r" b="b"/>
              <a:pathLst>
                <a:path w="382981" h="2041074">
                  <a:moveTo>
                    <a:pt x="0" y="0"/>
                  </a:moveTo>
                  <a:lnTo>
                    <a:pt x="382981" y="0"/>
                  </a:lnTo>
                  <a:lnTo>
                    <a:pt x="382981" y="2041074"/>
                  </a:lnTo>
                  <a:lnTo>
                    <a:pt x="0" y="2041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TextBox 53">
              <a:extLst>
                <a:ext uri="{FF2B5EF4-FFF2-40B4-BE49-F238E27FC236}">
                  <a16:creationId xmlns:a16="http://schemas.microsoft.com/office/drawing/2014/main" id="{EC85CFD2-1159-42E8-A40E-CDC9CD344641}"/>
                </a:ext>
              </a:extLst>
            </p:cNvPr>
            <p:cNvSpPr txBox="1"/>
            <p:nvPr/>
          </p:nvSpPr>
          <p:spPr>
            <a:xfrm>
              <a:off x="1998955" y="1457868"/>
              <a:ext cx="1942367" cy="313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Revenue Sources</a:t>
              </a:r>
            </a:p>
          </p:txBody>
        </p:sp>
        <p:sp>
          <p:nvSpPr>
            <p:cNvPr id="69" name="TextBox 54">
              <a:extLst>
                <a:ext uri="{FF2B5EF4-FFF2-40B4-BE49-F238E27FC236}">
                  <a16:creationId xmlns:a16="http://schemas.microsoft.com/office/drawing/2014/main" id="{3DB1729C-29CF-4026-94FF-E6DD6DA79969}"/>
                </a:ext>
              </a:extLst>
            </p:cNvPr>
            <p:cNvSpPr txBox="1"/>
            <p:nvPr/>
          </p:nvSpPr>
          <p:spPr>
            <a:xfrm>
              <a:off x="1355350" y="3980088"/>
              <a:ext cx="959129" cy="504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180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Forecast</a:t>
              </a:r>
            </a:p>
          </p:txBody>
        </p:sp>
        <p:sp>
          <p:nvSpPr>
            <p:cNvPr id="70" name="TextBox 57">
              <a:extLst>
                <a:ext uri="{FF2B5EF4-FFF2-40B4-BE49-F238E27FC236}">
                  <a16:creationId xmlns:a16="http://schemas.microsoft.com/office/drawing/2014/main" id="{7CD23C86-6BFF-40A2-BDF4-E4D4B928524F}"/>
                </a:ext>
              </a:extLst>
            </p:cNvPr>
            <p:cNvSpPr txBox="1"/>
            <p:nvPr/>
          </p:nvSpPr>
          <p:spPr>
            <a:xfrm>
              <a:off x="5844573" y="2522220"/>
              <a:ext cx="1825685" cy="26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1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Farmers</a:t>
              </a:r>
            </a:p>
          </p:txBody>
        </p:sp>
        <p:sp>
          <p:nvSpPr>
            <p:cNvPr id="71" name="TextBox 58">
              <a:extLst>
                <a:ext uri="{FF2B5EF4-FFF2-40B4-BE49-F238E27FC236}">
                  <a16:creationId xmlns:a16="http://schemas.microsoft.com/office/drawing/2014/main" id="{C8E3804D-6746-43E5-B842-BBD52314E706}"/>
                </a:ext>
              </a:extLst>
            </p:cNvPr>
            <p:cNvSpPr txBox="1"/>
            <p:nvPr/>
          </p:nvSpPr>
          <p:spPr>
            <a:xfrm>
              <a:off x="8049213" y="2510900"/>
              <a:ext cx="1914906" cy="26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8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corporate offices</a:t>
              </a:r>
            </a:p>
          </p:txBody>
        </p:sp>
        <p:sp>
          <p:nvSpPr>
            <p:cNvPr id="73" name="TextBox 60">
              <a:extLst>
                <a:ext uri="{FF2B5EF4-FFF2-40B4-BE49-F238E27FC236}">
                  <a16:creationId xmlns:a16="http://schemas.microsoft.com/office/drawing/2014/main" id="{961551B5-7B71-4758-B2BE-224BAFE91FC3}"/>
                </a:ext>
              </a:extLst>
            </p:cNvPr>
            <p:cNvSpPr txBox="1"/>
            <p:nvPr/>
          </p:nvSpPr>
          <p:spPr>
            <a:xfrm>
              <a:off x="3400833" y="2515064"/>
              <a:ext cx="2243890" cy="615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999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Hobbyist homeowners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59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399984" y="4998444"/>
            <a:ext cx="2043617" cy="1396489"/>
          </a:xfrm>
          <a:custGeom>
            <a:avLst/>
            <a:gdLst/>
            <a:ahLst/>
            <a:cxnLst/>
            <a:rect l="l" t="t" r="r" b="b"/>
            <a:pathLst>
              <a:path w="2043617" h="1396489">
                <a:moveTo>
                  <a:pt x="0" y="0"/>
                </a:moveTo>
                <a:lnTo>
                  <a:pt x="2043618" y="0"/>
                </a:lnTo>
                <a:lnTo>
                  <a:pt x="2043618" y="1396489"/>
                </a:lnTo>
                <a:lnTo>
                  <a:pt x="0" y="1396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83312" y="5111410"/>
            <a:ext cx="1238860" cy="1238860"/>
          </a:xfrm>
          <a:custGeom>
            <a:avLst/>
            <a:gdLst/>
            <a:ahLst/>
            <a:cxnLst/>
            <a:rect l="l" t="t" r="r" b="b"/>
            <a:pathLst>
              <a:path w="1238860" h="1238860">
                <a:moveTo>
                  <a:pt x="0" y="0"/>
                </a:moveTo>
                <a:lnTo>
                  <a:pt x="1238860" y="0"/>
                </a:lnTo>
                <a:lnTo>
                  <a:pt x="1238860" y="1238860"/>
                </a:lnTo>
                <a:lnTo>
                  <a:pt x="0" y="12388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383536" y="5251704"/>
            <a:ext cx="755904" cy="755904"/>
            <a:chOff x="0" y="0"/>
            <a:chExt cx="1007872" cy="1007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7872" cy="1007872"/>
            </a:xfrm>
            <a:custGeom>
              <a:avLst/>
              <a:gdLst/>
              <a:ahLst/>
              <a:cxnLst/>
              <a:rect l="l" t="t" r="r" b="b"/>
              <a:pathLst>
                <a:path w="1007872" h="1007872">
                  <a:moveTo>
                    <a:pt x="0" y="0"/>
                  </a:moveTo>
                  <a:lnTo>
                    <a:pt x="1007872" y="0"/>
                  </a:lnTo>
                  <a:lnTo>
                    <a:pt x="100787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502408" y="5654040"/>
            <a:ext cx="548640" cy="551688"/>
            <a:chOff x="0" y="0"/>
            <a:chExt cx="731520" cy="7355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" cy="735584"/>
            </a:xfrm>
            <a:custGeom>
              <a:avLst/>
              <a:gdLst/>
              <a:ahLst/>
              <a:cxnLst/>
              <a:rect l="l" t="t" r="r" b="b"/>
              <a:pathLst>
                <a:path w="731520" h="735584">
                  <a:moveTo>
                    <a:pt x="0" y="0"/>
                  </a:moveTo>
                  <a:lnTo>
                    <a:pt x="731520" y="0"/>
                  </a:lnTo>
                  <a:lnTo>
                    <a:pt x="731520" y="735584"/>
                  </a:lnTo>
                  <a:lnTo>
                    <a:pt x="0" y="73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174736" y="5312664"/>
            <a:ext cx="874776" cy="871728"/>
            <a:chOff x="0" y="0"/>
            <a:chExt cx="1166368" cy="11623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6368" cy="1162304"/>
            </a:xfrm>
            <a:custGeom>
              <a:avLst/>
              <a:gdLst/>
              <a:ahLst/>
              <a:cxnLst/>
              <a:rect l="l" t="t" r="r" b="b"/>
              <a:pathLst>
                <a:path w="1166368" h="1162304">
                  <a:moveTo>
                    <a:pt x="0" y="0"/>
                  </a:moveTo>
                  <a:lnTo>
                    <a:pt x="1166368" y="0"/>
                  </a:lnTo>
                  <a:lnTo>
                    <a:pt x="1166368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35152" y="1926336"/>
            <a:ext cx="1804416" cy="2093976"/>
            <a:chOff x="0" y="0"/>
            <a:chExt cx="2405888" cy="27919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05888" cy="2791968"/>
            </a:xfrm>
            <a:custGeom>
              <a:avLst/>
              <a:gdLst/>
              <a:ahLst/>
              <a:cxnLst/>
              <a:rect l="l" t="t" r="r" b="b"/>
              <a:pathLst>
                <a:path w="2405888" h="2791968">
                  <a:moveTo>
                    <a:pt x="0" y="0"/>
                  </a:moveTo>
                  <a:lnTo>
                    <a:pt x="2405888" y="0"/>
                  </a:lnTo>
                  <a:lnTo>
                    <a:pt x="2405888" y="2791968"/>
                  </a:lnTo>
                  <a:lnTo>
                    <a:pt x="0" y="2791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953939" y="4694996"/>
            <a:ext cx="662797" cy="662797"/>
          </a:xfrm>
          <a:custGeom>
            <a:avLst/>
            <a:gdLst/>
            <a:ahLst/>
            <a:cxnLst/>
            <a:rect l="l" t="t" r="r" b="b"/>
            <a:pathLst>
              <a:path w="662797" h="662797">
                <a:moveTo>
                  <a:pt x="0" y="0"/>
                </a:moveTo>
                <a:lnTo>
                  <a:pt x="662798" y="0"/>
                </a:lnTo>
                <a:lnTo>
                  <a:pt x="662798" y="662797"/>
                </a:lnTo>
                <a:lnTo>
                  <a:pt x="0" y="6627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42892" y="836876"/>
            <a:ext cx="10862148" cy="4694377"/>
          </a:xfrm>
          <a:custGeom>
            <a:avLst/>
            <a:gdLst/>
            <a:ahLst/>
            <a:cxnLst/>
            <a:rect l="l" t="t" r="r" b="b"/>
            <a:pathLst>
              <a:path w="10862148" h="4694377">
                <a:moveTo>
                  <a:pt x="0" y="0"/>
                </a:moveTo>
                <a:lnTo>
                  <a:pt x="10862148" y="0"/>
                </a:lnTo>
                <a:lnTo>
                  <a:pt x="10862148" y="4694377"/>
                </a:lnTo>
                <a:lnTo>
                  <a:pt x="0" y="46943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2" name="Group 22"/>
          <p:cNvGrpSpPr/>
          <p:nvPr/>
        </p:nvGrpSpPr>
        <p:grpSpPr>
          <a:xfrm>
            <a:off x="7166181" y="1071839"/>
            <a:ext cx="4611348" cy="2944959"/>
            <a:chOff x="0" y="0"/>
            <a:chExt cx="6148464" cy="39266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48451" cy="3926586"/>
            </a:xfrm>
            <a:custGeom>
              <a:avLst/>
              <a:gdLst/>
              <a:ahLst/>
              <a:cxnLst/>
              <a:rect l="l" t="t" r="r" b="b"/>
              <a:pathLst>
                <a:path w="6148451" h="3926586">
                  <a:moveTo>
                    <a:pt x="0" y="0"/>
                  </a:moveTo>
                  <a:lnTo>
                    <a:pt x="6148451" y="0"/>
                  </a:lnTo>
                  <a:lnTo>
                    <a:pt x="6148451" y="3926586"/>
                  </a:lnTo>
                  <a:lnTo>
                    <a:pt x="0" y="3926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 rot="-2857440">
            <a:off x="1302492" y="1602305"/>
            <a:ext cx="411423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4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60%</a:t>
            </a:r>
          </a:p>
        </p:txBody>
      </p:sp>
      <p:sp>
        <p:nvSpPr>
          <p:cNvPr id="25" name="TextBox 25"/>
          <p:cNvSpPr txBox="1"/>
          <p:nvPr/>
        </p:nvSpPr>
        <p:spPr>
          <a:xfrm rot="-2857440">
            <a:off x="1656669" y="5323903"/>
            <a:ext cx="411423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4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20%</a:t>
            </a:r>
          </a:p>
        </p:txBody>
      </p:sp>
      <p:sp>
        <p:nvSpPr>
          <p:cNvPr id="26" name="TextBox 26"/>
          <p:cNvSpPr txBox="1"/>
          <p:nvPr/>
        </p:nvSpPr>
        <p:spPr>
          <a:xfrm rot="-2493900">
            <a:off x="9203884" y="4885007"/>
            <a:ext cx="411423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3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92791" y="1527353"/>
            <a:ext cx="2075307" cy="54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Six Floor Building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88205" y="2264969"/>
            <a:ext cx="5598595" cy="1201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99"/>
              </a:lnSpc>
            </a:pPr>
            <a:r>
              <a:rPr lang="en-US" b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Mid-to-high-income urban families</a:t>
            </a:r>
          </a:p>
          <a:p>
            <a:pPr algn="l">
              <a:lnSpc>
                <a:spcPts val="4999"/>
              </a:lnSpc>
            </a:pPr>
            <a:r>
              <a:rPr lang="en-US" sz="24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Offering 15%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45393" y="3618281"/>
            <a:ext cx="906913" cy="163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"/>
              </a:lnSpc>
            </a:pPr>
            <a:r>
              <a:rPr lang="en-US" sz="1999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savings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90118" y="5414486"/>
            <a:ext cx="1865747" cy="65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lang="en-US" sz="2400" spc="2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B2B with</a:t>
            </a:r>
          </a:p>
          <a:p>
            <a:pPr algn="ctr">
              <a:lnSpc>
                <a:spcPts val="2367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71354" y="6130986"/>
            <a:ext cx="2871911" cy="335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premium super shops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1506E9-64A7-4C1E-8A2B-96F303A1FD44}"/>
              </a:ext>
            </a:extLst>
          </p:cNvPr>
          <p:cNvGrpSpPr/>
          <p:nvPr/>
        </p:nvGrpSpPr>
        <p:grpSpPr>
          <a:xfrm>
            <a:off x="381000" y="11966"/>
            <a:ext cx="6172200" cy="656007"/>
            <a:chOff x="381000" y="11966"/>
            <a:chExt cx="6172200" cy="656007"/>
          </a:xfrm>
        </p:grpSpPr>
        <p:grpSp>
          <p:nvGrpSpPr>
            <p:cNvPr id="16" name="Group 16"/>
            <p:cNvGrpSpPr/>
            <p:nvPr/>
          </p:nvGrpSpPr>
          <p:grpSpPr>
            <a:xfrm>
              <a:off x="381000" y="162928"/>
              <a:ext cx="262747" cy="236620"/>
              <a:chOff x="0" y="0"/>
              <a:chExt cx="202146" cy="2024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02180" cy="202443"/>
              </a:xfrm>
              <a:custGeom>
                <a:avLst/>
                <a:gdLst/>
                <a:ahLst/>
                <a:cxnLst/>
                <a:rect l="l" t="t" r="r" b="b"/>
                <a:pathLst>
                  <a:path w="202180" h="202443">
                    <a:moveTo>
                      <a:pt x="0" y="202443"/>
                    </a:moveTo>
                    <a:lnTo>
                      <a:pt x="202180" y="202443"/>
                    </a:lnTo>
                    <a:lnTo>
                      <a:pt x="20218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91014" y="622254"/>
              <a:ext cx="5351020" cy="45719"/>
              <a:chOff x="0" y="0"/>
              <a:chExt cx="1152004" cy="381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52021" cy="38099"/>
              </a:xfrm>
              <a:custGeom>
                <a:avLst/>
                <a:gdLst/>
                <a:ahLst/>
                <a:cxnLst/>
                <a:rect l="l" t="t" r="r" b="b"/>
                <a:pathLst>
                  <a:path w="1152021" h="38099">
                    <a:moveTo>
                      <a:pt x="0" y="0"/>
                    </a:moveTo>
                    <a:lnTo>
                      <a:pt x="1152021" y="0"/>
                    </a:lnTo>
                    <a:lnTo>
                      <a:pt x="1152021" y="38099"/>
                    </a:lnTo>
                    <a:lnTo>
                      <a:pt x="0" y="38099"/>
                    </a:lnTo>
                    <a:close/>
                  </a:path>
                </a:pathLst>
              </a:custGeom>
              <a:solidFill>
                <a:srgbClr val="ED712E"/>
              </a:solidFill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45206" y="11966"/>
              <a:ext cx="5807994" cy="5385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Opportunity &amp; Target Market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902104" y="1264558"/>
            <a:ext cx="232658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4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93331" y="4876438"/>
            <a:ext cx="232658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4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07310" y="4842910"/>
            <a:ext cx="232658" cy="28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4">
                <a:solidFill>
                  <a:srgbClr val="CEDBE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03</a:t>
            </a:r>
          </a:p>
        </p:txBody>
      </p:sp>
      <p:sp>
        <p:nvSpPr>
          <p:cNvPr id="40" name="TextBox 32">
            <a:extLst>
              <a:ext uri="{FF2B5EF4-FFF2-40B4-BE49-F238E27FC236}">
                <a16:creationId xmlns:a16="http://schemas.microsoft.com/office/drawing/2014/main" id="{12DA9FBF-0364-4677-9104-BEF0E3D53C76}"/>
              </a:ext>
            </a:extLst>
          </p:cNvPr>
          <p:cNvSpPr txBox="1"/>
          <p:nvPr/>
        </p:nvSpPr>
        <p:spPr>
          <a:xfrm>
            <a:off x="1045629" y="573579"/>
            <a:ext cx="3058907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Target Market for Products: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89837" y="1162979"/>
            <a:ext cx="535124" cy="535124"/>
            <a:chOff x="0" y="0"/>
            <a:chExt cx="713499" cy="7134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3486" cy="713486"/>
            </a:xfrm>
            <a:custGeom>
              <a:avLst/>
              <a:gdLst/>
              <a:ahLst/>
              <a:cxnLst/>
              <a:rect l="l" t="t" r="r" b="b"/>
              <a:pathLst>
                <a:path w="713486" h="713486">
                  <a:moveTo>
                    <a:pt x="356743" y="0"/>
                  </a:moveTo>
                  <a:cubicBezTo>
                    <a:pt x="159766" y="0"/>
                    <a:pt x="0" y="159766"/>
                    <a:pt x="0" y="356743"/>
                  </a:cubicBezTo>
                  <a:cubicBezTo>
                    <a:pt x="0" y="553720"/>
                    <a:pt x="159766" y="713486"/>
                    <a:pt x="356743" y="713486"/>
                  </a:cubicBezTo>
                  <a:cubicBezTo>
                    <a:pt x="553466" y="713486"/>
                    <a:pt x="713105" y="554228"/>
                    <a:pt x="713486" y="357505"/>
                  </a:cubicBezTo>
                  <a:lnTo>
                    <a:pt x="713486" y="355981"/>
                  </a:lnTo>
                  <a:cubicBezTo>
                    <a:pt x="713105" y="159385"/>
                    <a:pt x="553466" y="0"/>
                    <a:pt x="356743" y="0"/>
                  </a:cubicBez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365300" y="2269635"/>
            <a:ext cx="559651" cy="559651"/>
            <a:chOff x="0" y="0"/>
            <a:chExt cx="746201" cy="7462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6252" cy="746252"/>
            </a:xfrm>
            <a:custGeom>
              <a:avLst/>
              <a:gdLst/>
              <a:ahLst/>
              <a:cxnLst/>
              <a:rect l="l" t="t" r="r" b="b"/>
              <a:pathLst>
                <a:path w="746252" h="746252">
                  <a:moveTo>
                    <a:pt x="372745" y="0"/>
                  </a:moveTo>
                  <a:cubicBezTo>
                    <a:pt x="166878" y="254"/>
                    <a:pt x="0" y="167132"/>
                    <a:pt x="0" y="373126"/>
                  </a:cubicBezTo>
                  <a:cubicBezTo>
                    <a:pt x="0" y="579120"/>
                    <a:pt x="167005" y="746252"/>
                    <a:pt x="373126" y="746252"/>
                  </a:cubicBezTo>
                  <a:cubicBezTo>
                    <a:pt x="578993" y="746252"/>
                    <a:pt x="745871" y="579501"/>
                    <a:pt x="746252" y="373761"/>
                  </a:cubicBezTo>
                  <a:lnTo>
                    <a:pt x="746252" y="372745"/>
                  </a:lnTo>
                  <a:cubicBezTo>
                    <a:pt x="745871" y="166878"/>
                    <a:pt x="579247" y="254"/>
                    <a:pt x="373507" y="0"/>
                  </a:cubicBezTo>
                  <a:close/>
                </a:path>
              </a:pathLst>
            </a:custGeom>
            <a:blipFill>
              <a:blip r:embed="rId4"/>
              <a:stretch>
                <a:fillRect r="6" b="6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366948" y="4542398"/>
            <a:ext cx="558003" cy="499234"/>
            <a:chOff x="0" y="0"/>
            <a:chExt cx="744004" cy="6656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3966" cy="665607"/>
            </a:xfrm>
            <a:custGeom>
              <a:avLst/>
              <a:gdLst/>
              <a:ahLst/>
              <a:cxnLst/>
              <a:rect l="l" t="t" r="r" b="b"/>
              <a:pathLst>
                <a:path w="743966" h="665607">
                  <a:moveTo>
                    <a:pt x="143637" y="0"/>
                  </a:moveTo>
                  <a:cubicBezTo>
                    <a:pt x="56261" y="68072"/>
                    <a:pt x="0" y="174244"/>
                    <a:pt x="0" y="293624"/>
                  </a:cubicBezTo>
                  <a:cubicBezTo>
                    <a:pt x="0" y="499110"/>
                    <a:pt x="166497" y="665607"/>
                    <a:pt x="371983" y="665607"/>
                  </a:cubicBezTo>
                  <a:cubicBezTo>
                    <a:pt x="577469" y="665607"/>
                    <a:pt x="743966" y="499110"/>
                    <a:pt x="743966" y="293624"/>
                  </a:cubicBezTo>
                  <a:cubicBezTo>
                    <a:pt x="743966" y="174244"/>
                    <a:pt x="687705" y="68072"/>
                    <a:pt x="600329" y="0"/>
                  </a:cubicBezTo>
                  <a:close/>
                </a:path>
              </a:pathLst>
            </a:custGeom>
            <a:blipFill>
              <a:blip r:embed="rId5"/>
              <a:stretch>
                <a:fillRect r="-5" b="-10305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2389837" y="5601738"/>
            <a:ext cx="558003" cy="550050"/>
            <a:chOff x="0" y="0"/>
            <a:chExt cx="744004" cy="733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3966" cy="733425"/>
            </a:xfrm>
            <a:custGeom>
              <a:avLst/>
              <a:gdLst/>
              <a:ahLst/>
              <a:cxnLst/>
              <a:rect l="l" t="t" r="r" b="b"/>
              <a:pathLst>
                <a:path w="743966" h="733425">
                  <a:moveTo>
                    <a:pt x="371729" y="0"/>
                  </a:moveTo>
                  <a:cubicBezTo>
                    <a:pt x="166370" y="127"/>
                    <a:pt x="0" y="166624"/>
                    <a:pt x="0" y="371983"/>
                  </a:cubicBezTo>
                  <a:cubicBezTo>
                    <a:pt x="0" y="546989"/>
                    <a:pt x="120777" y="693674"/>
                    <a:pt x="283464" y="733425"/>
                  </a:cubicBezTo>
                  <a:lnTo>
                    <a:pt x="460502" y="733425"/>
                  </a:lnTo>
                  <a:cubicBezTo>
                    <a:pt x="623189" y="693674"/>
                    <a:pt x="743966" y="546989"/>
                    <a:pt x="743966" y="371983"/>
                  </a:cubicBezTo>
                  <a:cubicBezTo>
                    <a:pt x="743966" y="166624"/>
                    <a:pt x="577596" y="127"/>
                    <a:pt x="372364" y="0"/>
                  </a:cubicBezTo>
                  <a:close/>
                </a:path>
              </a:pathLst>
            </a:custGeom>
            <a:blipFill>
              <a:blip r:embed="rId6"/>
              <a:stretch>
                <a:fillRect r="-5" b="3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2389837" y="3424616"/>
            <a:ext cx="558003" cy="558003"/>
            <a:chOff x="0" y="0"/>
            <a:chExt cx="744004" cy="7440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3966" cy="743966"/>
            </a:xfrm>
            <a:custGeom>
              <a:avLst/>
              <a:gdLst/>
              <a:ahLst/>
              <a:cxnLst/>
              <a:rect l="l" t="t" r="r" b="b"/>
              <a:pathLst>
                <a:path w="743966" h="743966">
                  <a:moveTo>
                    <a:pt x="371983" y="0"/>
                  </a:moveTo>
                  <a:cubicBezTo>
                    <a:pt x="166497" y="0"/>
                    <a:pt x="0" y="166497"/>
                    <a:pt x="0" y="371983"/>
                  </a:cubicBezTo>
                  <a:cubicBezTo>
                    <a:pt x="0" y="577469"/>
                    <a:pt x="166497" y="743966"/>
                    <a:pt x="371983" y="743966"/>
                  </a:cubicBezTo>
                  <a:cubicBezTo>
                    <a:pt x="577469" y="743966"/>
                    <a:pt x="743966" y="577469"/>
                    <a:pt x="743966" y="371983"/>
                  </a:cubicBezTo>
                  <a:cubicBezTo>
                    <a:pt x="743966" y="166497"/>
                    <a:pt x="577469" y="0"/>
                    <a:pt x="371983" y="0"/>
                  </a:cubicBezTo>
                  <a:close/>
                </a:path>
              </a:pathLst>
            </a:custGeom>
            <a:blipFill>
              <a:blip r:embed="rId7"/>
              <a:stretch>
                <a:fillRect r="-5" b="-5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6648326" y="1402165"/>
            <a:ext cx="3330017" cy="1115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spc="3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Hyper Local Vertical Farming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44694" y="6151788"/>
            <a:ext cx="2281057" cy="31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Our Implementation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20BA8F8-1B0D-4EE5-BD7C-463E689063AD}"/>
              </a:ext>
            </a:extLst>
          </p:cNvPr>
          <p:cNvGrpSpPr/>
          <p:nvPr/>
        </p:nvGrpSpPr>
        <p:grpSpPr>
          <a:xfrm>
            <a:off x="2242142" y="988747"/>
            <a:ext cx="2799007" cy="5341992"/>
            <a:chOff x="7106050" y="1221372"/>
            <a:chExt cx="2799007" cy="5341992"/>
          </a:xfrm>
        </p:grpSpPr>
        <p:sp>
          <p:nvSpPr>
            <p:cNvPr id="11" name="Freeform 11"/>
            <p:cNvSpPr/>
            <p:nvPr/>
          </p:nvSpPr>
          <p:spPr>
            <a:xfrm>
              <a:off x="7413412" y="2329444"/>
              <a:ext cx="2484768" cy="851783"/>
            </a:xfrm>
            <a:custGeom>
              <a:avLst/>
              <a:gdLst/>
              <a:ahLst/>
              <a:cxnLst/>
              <a:rect l="l" t="t" r="r" b="b"/>
              <a:pathLst>
                <a:path w="2484768" h="851783">
                  <a:moveTo>
                    <a:pt x="0" y="0"/>
                  </a:moveTo>
                  <a:lnTo>
                    <a:pt x="2484768" y="0"/>
                  </a:lnTo>
                  <a:lnTo>
                    <a:pt x="2484768" y="851782"/>
                  </a:lnTo>
                  <a:lnTo>
                    <a:pt x="0" y="85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111651" y="1221372"/>
              <a:ext cx="2787967" cy="851792"/>
            </a:xfrm>
            <a:custGeom>
              <a:avLst/>
              <a:gdLst/>
              <a:ahLst/>
              <a:cxnLst/>
              <a:rect l="l" t="t" r="r" b="b"/>
              <a:pathLst>
                <a:path w="2787967" h="851792">
                  <a:moveTo>
                    <a:pt x="0" y="0"/>
                  </a:moveTo>
                  <a:lnTo>
                    <a:pt x="2787967" y="0"/>
                  </a:lnTo>
                  <a:lnTo>
                    <a:pt x="2787967" y="851792"/>
                  </a:lnTo>
                  <a:lnTo>
                    <a:pt x="0" y="85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7111651" y="2348751"/>
              <a:ext cx="819312" cy="823236"/>
            </a:xfrm>
            <a:custGeom>
              <a:avLst/>
              <a:gdLst/>
              <a:ahLst/>
              <a:cxnLst/>
              <a:rect l="l" t="t" r="r" b="b"/>
              <a:pathLst>
                <a:path w="819312" h="823236">
                  <a:moveTo>
                    <a:pt x="0" y="0"/>
                  </a:moveTo>
                  <a:lnTo>
                    <a:pt x="819312" y="0"/>
                  </a:lnTo>
                  <a:lnTo>
                    <a:pt x="819312" y="823236"/>
                  </a:lnTo>
                  <a:lnTo>
                    <a:pt x="0" y="823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7106050" y="4584202"/>
              <a:ext cx="2792130" cy="851783"/>
            </a:xfrm>
            <a:custGeom>
              <a:avLst/>
              <a:gdLst/>
              <a:ahLst/>
              <a:cxnLst/>
              <a:rect l="l" t="t" r="r" b="b"/>
              <a:pathLst>
                <a:path w="2792130" h="851783">
                  <a:moveTo>
                    <a:pt x="0" y="0"/>
                  </a:moveTo>
                  <a:lnTo>
                    <a:pt x="2792130" y="0"/>
                  </a:lnTo>
                  <a:lnTo>
                    <a:pt x="2792130" y="851782"/>
                  </a:lnTo>
                  <a:lnTo>
                    <a:pt x="0" y="85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108212" y="5711581"/>
              <a:ext cx="2789968" cy="851783"/>
            </a:xfrm>
            <a:custGeom>
              <a:avLst/>
              <a:gdLst/>
              <a:ahLst/>
              <a:cxnLst/>
              <a:rect l="l" t="t" r="r" b="b"/>
              <a:pathLst>
                <a:path w="2789968" h="851783">
                  <a:moveTo>
                    <a:pt x="0" y="0"/>
                  </a:moveTo>
                  <a:lnTo>
                    <a:pt x="2789968" y="0"/>
                  </a:lnTo>
                  <a:lnTo>
                    <a:pt x="2789968" y="851782"/>
                  </a:lnTo>
                  <a:lnTo>
                    <a:pt x="0" y="85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20289" y="3456823"/>
              <a:ext cx="2484768" cy="851783"/>
            </a:xfrm>
            <a:custGeom>
              <a:avLst/>
              <a:gdLst/>
              <a:ahLst/>
              <a:cxnLst/>
              <a:rect l="l" t="t" r="r" b="b"/>
              <a:pathLst>
                <a:path w="2484768" h="851783">
                  <a:moveTo>
                    <a:pt x="0" y="0"/>
                  </a:moveTo>
                  <a:lnTo>
                    <a:pt x="2484768" y="0"/>
                  </a:lnTo>
                  <a:lnTo>
                    <a:pt x="2484768" y="851782"/>
                  </a:lnTo>
                  <a:lnTo>
                    <a:pt x="0" y="85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7111651" y="3472910"/>
              <a:ext cx="819312" cy="823236"/>
            </a:xfrm>
            <a:custGeom>
              <a:avLst/>
              <a:gdLst/>
              <a:ahLst/>
              <a:cxnLst/>
              <a:rect l="l" t="t" r="r" b="b"/>
              <a:pathLst>
                <a:path w="819312" h="823236">
                  <a:moveTo>
                    <a:pt x="0" y="0"/>
                  </a:moveTo>
                  <a:lnTo>
                    <a:pt x="819312" y="0"/>
                  </a:lnTo>
                  <a:lnTo>
                    <a:pt x="819312" y="823236"/>
                  </a:lnTo>
                  <a:lnTo>
                    <a:pt x="0" y="823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8196977" y="1493158"/>
              <a:ext cx="1221572" cy="283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Aquaponics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1212" y="5998102"/>
              <a:ext cx="1614754" cy="283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spc="1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Auto Monitoring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50378" y="3739534"/>
              <a:ext cx="1635623" cy="283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Vertical Farming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49787" y="2620918"/>
              <a:ext cx="1615459" cy="283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spc="1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RAS Technology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46520" y="4842910"/>
              <a:ext cx="1579474" cy="283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LED Grow Lights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AB01CF2A-3C1A-442E-9219-B5D6DC25DB4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549479"/>
            <a:ext cx="4136319" cy="249711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5D632875-29F5-403F-B475-B22E23BAE50B}"/>
              </a:ext>
            </a:extLst>
          </p:cNvPr>
          <p:cNvGrpSpPr/>
          <p:nvPr/>
        </p:nvGrpSpPr>
        <p:grpSpPr>
          <a:xfrm>
            <a:off x="381000" y="11966"/>
            <a:ext cx="6172200" cy="610288"/>
            <a:chOff x="381000" y="11966"/>
            <a:chExt cx="6172200" cy="610288"/>
          </a:xfrm>
        </p:grpSpPr>
        <p:grpSp>
          <p:nvGrpSpPr>
            <p:cNvPr id="41" name="Group 16">
              <a:extLst>
                <a:ext uri="{FF2B5EF4-FFF2-40B4-BE49-F238E27FC236}">
                  <a16:creationId xmlns:a16="http://schemas.microsoft.com/office/drawing/2014/main" id="{064A0609-F4AC-4CB7-9E0E-78AD0980ED46}"/>
                </a:ext>
              </a:extLst>
            </p:cNvPr>
            <p:cNvGrpSpPr/>
            <p:nvPr/>
          </p:nvGrpSpPr>
          <p:grpSpPr>
            <a:xfrm>
              <a:off x="381000" y="162928"/>
              <a:ext cx="262747" cy="236620"/>
              <a:chOff x="0" y="0"/>
              <a:chExt cx="202146" cy="2024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45" name="Freeform 17">
                <a:extLst>
                  <a:ext uri="{FF2B5EF4-FFF2-40B4-BE49-F238E27FC236}">
                    <a16:creationId xmlns:a16="http://schemas.microsoft.com/office/drawing/2014/main" id="{834800C2-6208-41F0-93D5-58FFCD758C97}"/>
                  </a:ext>
                </a:extLst>
              </p:cNvPr>
              <p:cNvSpPr/>
              <p:nvPr/>
            </p:nvSpPr>
            <p:spPr>
              <a:xfrm>
                <a:off x="0" y="0"/>
                <a:ext cx="202180" cy="202443"/>
              </a:xfrm>
              <a:custGeom>
                <a:avLst/>
                <a:gdLst/>
                <a:ahLst/>
                <a:cxnLst/>
                <a:rect l="l" t="t" r="r" b="b"/>
                <a:pathLst>
                  <a:path w="202180" h="202443">
                    <a:moveTo>
                      <a:pt x="0" y="202443"/>
                    </a:moveTo>
                    <a:lnTo>
                      <a:pt x="202180" y="202443"/>
                    </a:lnTo>
                    <a:lnTo>
                      <a:pt x="20218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</p:spPr>
          </p:sp>
        </p:grpSp>
        <p:grpSp>
          <p:nvGrpSpPr>
            <p:cNvPr id="42" name="Group 18">
              <a:extLst>
                <a:ext uri="{FF2B5EF4-FFF2-40B4-BE49-F238E27FC236}">
                  <a16:creationId xmlns:a16="http://schemas.microsoft.com/office/drawing/2014/main" id="{1628B8E6-19CA-406E-B2D8-BDAC173435CA}"/>
                </a:ext>
              </a:extLst>
            </p:cNvPr>
            <p:cNvGrpSpPr/>
            <p:nvPr/>
          </p:nvGrpSpPr>
          <p:grpSpPr>
            <a:xfrm>
              <a:off x="791014" y="576535"/>
              <a:ext cx="2133907" cy="45719"/>
              <a:chOff x="0" y="-38100"/>
              <a:chExt cx="459402" cy="38100"/>
            </a:xfrm>
          </p:grpSpPr>
          <p:sp>
            <p:nvSpPr>
              <p:cNvPr id="44" name="Freeform 19">
                <a:extLst>
                  <a:ext uri="{FF2B5EF4-FFF2-40B4-BE49-F238E27FC236}">
                    <a16:creationId xmlns:a16="http://schemas.microsoft.com/office/drawing/2014/main" id="{84F6373F-E1E9-4391-A225-C55F8D0EC53E}"/>
                  </a:ext>
                </a:extLst>
              </p:cNvPr>
              <p:cNvSpPr/>
              <p:nvPr/>
            </p:nvSpPr>
            <p:spPr>
              <a:xfrm flipV="1">
                <a:off x="0" y="-38100"/>
                <a:ext cx="459402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152021" h="38099">
                    <a:moveTo>
                      <a:pt x="0" y="0"/>
                    </a:moveTo>
                    <a:lnTo>
                      <a:pt x="1152021" y="0"/>
                    </a:lnTo>
                    <a:lnTo>
                      <a:pt x="1152021" y="38099"/>
                    </a:lnTo>
                    <a:lnTo>
                      <a:pt x="0" y="38099"/>
                    </a:lnTo>
                    <a:close/>
                  </a:path>
                </a:pathLst>
              </a:custGeom>
              <a:solidFill>
                <a:srgbClr val="ED712E"/>
              </a:solidFill>
            </p:spPr>
          </p:sp>
        </p:grpSp>
        <p:sp>
          <p:nvSpPr>
            <p:cNvPr id="43" name="TextBox 32">
              <a:extLst>
                <a:ext uri="{FF2B5EF4-FFF2-40B4-BE49-F238E27FC236}">
                  <a16:creationId xmlns:a16="http://schemas.microsoft.com/office/drawing/2014/main" id="{05ACD343-D2C1-4E8F-9944-C12F8FF82DD3}"/>
                </a:ext>
              </a:extLst>
            </p:cNvPr>
            <p:cNvSpPr txBox="1"/>
            <p:nvPr/>
          </p:nvSpPr>
          <p:spPr>
            <a:xfrm>
              <a:off x="745206" y="11966"/>
              <a:ext cx="5807994" cy="5385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Technology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  <a:solidFill>
            <a:schemeClr val="accent6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8" name="Group 8"/>
          <p:cNvGrpSpPr/>
          <p:nvPr/>
        </p:nvGrpSpPr>
        <p:grpSpPr>
          <a:xfrm>
            <a:off x="157029" y="2700614"/>
            <a:ext cx="11956094" cy="12697"/>
            <a:chOff x="0" y="0"/>
            <a:chExt cx="11956098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56035" cy="12699"/>
            </a:xfrm>
            <a:custGeom>
              <a:avLst/>
              <a:gdLst/>
              <a:ahLst/>
              <a:cxnLst/>
              <a:rect l="l" t="t" r="r" b="b"/>
              <a:pathLst>
                <a:path w="11956035" h="12699">
                  <a:moveTo>
                    <a:pt x="0" y="0"/>
                  </a:moveTo>
                  <a:lnTo>
                    <a:pt x="11956035" y="0"/>
                  </a:lnTo>
                  <a:lnTo>
                    <a:pt x="11956035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279" y="4072223"/>
            <a:ext cx="11907612" cy="12697"/>
            <a:chOff x="0" y="0"/>
            <a:chExt cx="11907609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07648" cy="12699"/>
            </a:xfrm>
            <a:custGeom>
              <a:avLst/>
              <a:gdLst/>
              <a:ahLst/>
              <a:cxnLst/>
              <a:rect l="l" t="t" r="r" b="b"/>
              <a:pathLst>
                <a:path w="11907648" h="12699">
                  <a:moveTo>
                    <a:pt x="0" y="0"/>
                  </a:moveTo>
                  <a:lnTo>
                    <a:pt x="11907648" y="0"/>
                  </a:lnTo>
                  <a:lnTo>
                    <a:pt x="11907648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5555" y="3385299"/>
            <a:ext cx="11907612" cy="12697"/>
            <a:chOff x="0" y="0"/>
            <a:chExt cx="11907609" cy="12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07648" cy="12699"/>
            </a:xfrm>
            <a:custGeom>
              <a:avLst/>
              <a:gdLst/>
              <a:ahLst/>
              <a:cxnLst/>
              <a:rect l="l" t="t" r="r" b="b"/>
              <a:pathLst>
                <a:path w="11907648" h="12699">
                  <a:moveTo>
                    <a:pt x="0" y="0"/>
                  </a:moveTo>
                  <a:lnTo>
                    <a:pt x="11907648" y="0"/>
                  </a:lnTo>
                  <a:lnTo>
                    <a:pt x="11907648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5555" y="4698759"/>
            <a:ext cx="11907612" cy="12697"/>
            <a:chOff x="0" y="0"/>
            <a:chExt cx="11907609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07648" cy="12699"/>
            </a:xfrm>
            <a:custGeom>
              <a:avLst/>
              <a:gdLst/>
              <a:ahLst/>
              <a:cxnLst/>
              <a:rect l="l" t="t" r="r" b="b"/>
              <a:pathLst>
                <a:path w="11907648" h="12699">
                  <a:moveTo>
                    <a:pt x="0" y="0"/>
                  </a:moveTo>
                  <a:lnTo>
                    <a:pt x="11907648" y="0"/>
                  </a:lnTo>
                  <a:lnTo>
                    <a:pt x="11907648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5555" y="5867152"/>
            <a:ext cx="11907612" cy="12697"/>
            <a:chOff x="0" y="0"/>
            <a:chExt cx="11907609" cy="12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07648" cy="12699"/>
            </a:xfrm>
            <a:custGeom>
              <a:avLst/>
              <a:gdLst/>
              <a:ahLst/>
              <a:cxnLst/>
              <a:rect l="l" t="t" r="r" b="b"/>
              <a:pathLst>
                <a:path w="11907648" h="12699">
                  <a:moveTo>
                    <a:pt x="0" y="0"/>
                  </a:moveTo>
                  <a:lnTo>
                    <a:pt x="11907648" y="0"/>
                  </a:lnTo>
                  <a:lnTo>
                    <a:pt x="11907648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93767" y="6561420"/>
            <a:ext cx="11907612" cy="12697"/>
            <a:chOff x="0" y="0"/>
            <a:chExt cx="11907609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07648" cy="12699"/>
            </a:xfrm>
            <a:custGeom>
              <a:avLst/>
              <a:gdLst/>
              <a:ahLst/>
              <a:cxnLst/>
              <a:rect l="l" t="t" r="r" b="b"/>
              <a:pathLst>
                <a:path w="11907648" h="12699">
                  <a:moveTo>
                    <a:pt x="0" y="0"/>
                  </a:moveTo>
                  <a:lnTo>
                    <a:pt x="11907648" y="0"/>
                  </a:lnTo>
                  <a:lnTo>
                    <a:pt x="11907648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00730" y="5274488"/>
            <a:ext cx="11907612" cy="12697"/>
            <a:chOff x="0" y="0"/>
            <a:chExt cx="11907609" cy="12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907648" cy="12699"/>
            </a:xfrm>
            <a:custGeom>
              <a:avLst/>
              <a:gdLst/>
              <a:ahLst/>
              <a:cxnLst/>
              <a:rect l="l" t="t" r="r" b="b"/>
              <a:pathLst>
                <a:path w="11907648" h="12699">
                  <a:moveTo>
                    <a:pt x="0" y="0"/>
                  </a:moveTo>
                  <a:lnTo>
                    <a:pt x="11907648" y="0"/>
                  </a:lnTo>
                  <a:lnTo>
                    <a:pt x="11907648" y="12699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39245" y="564385"/>
            <a:ext cx="2507713" cy="38100"/>
            <a:chOff x="0" y="0"/>
            <a:chExt cx="2507717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07744" cy="38099"/>
            </a:xfrm>
            <a:custGeom>
              <a:avLst/>
              <a:gdLst/>
              <a:ahLst/>
              <a:cxnLst/>
              <a:rect l="l" t="t" r="r" b="b"/>
              <a:pathLst>
                <a:path w="2507744" h="38099">
                  <a:moveTo>
                    <a:pt x="0" y="0"/>
                  </a:moveTo>
                  <a:lnTo>
                    <a:pt x="2507744" y="0"/>
                  </a:lnTo>
                  <a:lnTo>
                    <a:pt x="2507744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0728" y="1010545"/>
            <a:ext cx="12064127" cy="1088631"/>
            <a:chOff x="0" y="0"/>
            <a:chExt cx="12064124" cy="1088631"/>
          </a:xfrm>
        </p:grpSpPr>
        <p:sp>
          <p:nvSpPr>
            <p:cNvPr id="25" name="Freeform 25"/>
            <p:cNvSpPr/>
            <p:nvPr/>
          </p:nvSpPr>
          <p:spPr>
            <a:xfrm>
              <a:off x="2158365" y="82550"/>
              <a:ext cx="9823196" cy="855855"/>
            </a:xfrm>
            <a:custGeom>
              <a:avLst/>
              <a:gdLst/>
              <a:ahLst/>
              <a:cxnLst/>
              <a:rect l="l" t="t" r="r" b="b"/>
              <a:pathLst>
                <a:path w="9823196" h="855855">
                  <a:moveTo>
                    <a:pt x="0" y="0"/>
                  </a:moveTo>
                  <a:lnTo>
                    <a:pt x="9823196" y="0"/>
                  </a:lnTo>
                  <a:lnTo>
                    <a:pt x="9823196" y="855855"/>
                  </a:lnTo>
                  <a:lnTo>
                    <a:pt x="0" y="855855"/>
                  </a:lnTo>
                  <a:close/>
                </a:path>
              </a:pathLst>
            </a:custGeom>
            <a:solidFill>
              <a:srgbClr val="3A8F9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139315" y="63500"/>
              <a:ext cx="9861296" cy="893955"/>
            </a:xfrm>
            <a:custGeom>
              <a:avLst/>
              <a:gdLst/>
              <a:ahLst/>
              <a:cxnLst/>
              <a:rect l="l" t="t" r="r" b="b"/>
              <a:pathLst>
                <a:path w="9861296" h="893955">
                  <a:moveTo>
                    <a:pt x="19050" y="0"/>
                  </a:moveTo>
                  <a:lnTo>
                    <a:pt x="9842246" y="0"/>
                  </a:lnTo>
                  <a:lnTo>
                    <a:pt x="9861296" y="0"/>
                  </a:lnTo>
                  <a:lnTo>
                    <a:pt x="9861296" y="19050"/>
                  </a:lnTo>
                  <a:lnTo>
                    <a:pt x="9861296" y="874905"/>
                  </a:lnTo>
                  <a:lnTo>
                    <a:pt x="9861296" y="893955"/>
                  </a:lnTo>
                  <a:lnTo>
                    <a:pt x="9842246" y="893955"/>
                  </a:lnTo>
                  <a:lnTo>
                    <a:pt x="19050" y="893955"/>
                  </a:lnTo>
                  <a:lnTo>
                    <a:pt x="0" y="893955"/>
                  </a:lnTo>
                  <a:lnTo>
                    <a:pt x="0" y="874905"/>
                  </a:lnTo>
                  <a:lnTo>
                    <a:pt x="0" y="19050"/>
                  </a:lnTo>
                  <a:lnTo>
                    <a:pt x="0" y="0"/>
                  </a:lnTo>
                  <a:lnTo>
                    <a:pt x="19050" y="0"/>
                  </a:ln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74905"/>
                  </a:lnTo>
                  <a:lnTo>
                    <a:pt x="19050" y="874905"/>
                  </a:lnTo>
                  <a:lnTo>
                    <a:pt x="19050" y="855855"/>
                  </a:lnTo>
                  <a:lnTo>
                    <a:pt x="9842246" y="855855"/>
                  </a:lnTo>
                  <a:lnTo>
                    <a:pt x="9842246" y="874905"/>
                  </a:lnTo>
                  <a:lnTo>
                    <a:pt x="9823196" y="874905"/>
                  </a:lnTo>
                  <a:lnTo>
                    <a:pt x="9823196" y="19050"/>
                  </a:lnTo>
                  <a:lnTo>
                    <a:pt x="9842246" y="19050"/>
                  </a:lnTo>
                  <a:lnTo>
                    <a:pt x="9842246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F161D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3500" y="1012447"/>
              <a:ext cx="11907647" cy="12700"/>
            </a:xfrm>
            <a:custGeom>
              <a:avLst/>
              <a:gdLst/>
              <a:ahLst/>
              <a:cxnLst/>
              <a:rect l="l" t="t" r="r" b="b"/>
              <a:pathLst>
                <a:path w="11907647" h="12700">
                  <a:moveTo>
                    <a:pt x="0" y="0"/>
                  </a:moveTo>
                  <a:lnTo>
                    <a:pt x="11907647" y="0"/>
                  </a:lnTo>
                  <a:lnTo>
                    <a:pt x="1190764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400840" y="1256624"/>
            <a:ext cx="1979638" cy="539906"/>
            <a:chOff x="0" y="0"/>
            <a:chExt cx="2639517" cy="7198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39568" cy="719836"/>
            </a:xfrm>
            <a:custGeom>
              <a:avLst/>
              <a:gdLst/>
              <a:ahLst/>
              <a:cxnLst/>
              <a:rect l="l" t="t" r="r" b="b"/>
              <a:pathLst>
                <a:path w="2639568" h="719836">
                  <a:moveTo>
                    <a:pt x="0" y="0"/>
                  </a:moveTo>
                  <a:lnTo>
                    <a:pt x="2639568" y="0"/>
                  </a:lnTo>
                  <a:lnTo>
                    <a:pt x="2639568" y="719836"/>
                  </a:lnTo>
                  <a:lnTo>
                    <a:pt x="0" y="719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5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6464008" y="1227753"/>
            <a:ext cx="1787804" cy="602113"/>
            <a:chOff x="0" y="0"/>
            <a:chExt cx="2383739" cy="8028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83790" cy="802767"/>
            </a:xfrm>
            <a:custGeom>
              <a:avLst/>
              <a:gdLst/>
              <a:ahLst/>
              <a:cxnLst/>
              <a:rect l="l" t="t" r="r" b="b"/>
              <a:pathLst>
                <a:path w="2383790" h="802767">
                  <a:moveTo>
                    <a:pt x="0" y="0"/>
                  </a:moveTo>
                  <a:lnTo>
                    <a:pt x="2383790" y="0"/>
                  </a:lnTo>
                  <a:lnTo>
                    <a:pt x="2383790" y="802767"/>
                  </a:lnTo>
                  <a:lnTo>
                    <a:pt x="0" y="802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6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4332303" y="1006802"/>
            <a:ext cx="1979638" cy="1034520"/>
            <a:chOff x="0" y="0"/>
            <a:chExt cx="2639517" cy="1379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39568" cy="1379347"/>
            </a:xfrm>
            <a:custGeom>
              <a:avLst/>
              <a:gdLst/>
              <a:ahLst/>
              <a:cxnLst/>
              <a:rect l="l" t="t" r="r" b="b"/>
              <a:pathLst>
                <a:path w="2639568" h="1379347">
                  <a:moveTo>
                    <a:pt x="0" y="0"/>
                  </a:moveTo>
                  <a:lnTo>
                    <a:pt x="2639568" y="0"/>
                  </a:lnTo>
                  <a:lnTo>
                    <a:pt x="2639568" y="1379347"/>
                  </a:lnTo>
                  <a:lnTo>
                    <a:pt x="0" y="1379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82518" y="2027349"/>
            <a:ext cx="12697" cy="4538453"/>
            <a:chOff x="0" y="0"/>
            <a:chExt cx="12700" cy="453845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699" cy="4538478"/>
            </a:xfrm>
            <a:custGeom>
              <a:avLst/>
              <a:gdLst/>
              <a:ahLst/>
              <a:cxnLst/>
              <a:rect l="l" t="t" r="r" b="b"/>
              <a:pathLst>
                <a:path w="12699" h="4538478">
                  <a:moveTo>
                    <a:pt x="12699" y="0"/>
                  </a:moveTo>
                  <a:lnTo>
                    <a:pt x="12699" y="4538478"/>
                  </a:lnTo>
                  <a:lnTo>
                    <a:pt x="0" y="4538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id="36" name="Freeform 36"/>
          <p:cNvSpPr/>
          <p:nvPr/>
        </p:nvSpPr>
        <p:spPr>
          <a:xfrm>
            <a:off x="2189826" y="1026328"/>
            <a:ext cx="2293858" cy="5606729"/>
          </a:xfrm>
          <a:custGeom>
            <a:avLst/>
            <a:gdLst/>
            <a:ahLst/>
            <a:cxnLst/>
            <a:rect l="l" t="t" r="r" b="b"/>
            <a:pathLst>
              <a:path w="2293858" h="5606729">
                <a:moveTo>
                  <a:pt x="0" y="0"/>
                </a:moveTo>
                <a:lnTo>
                  <a:pt x="2293858" y="0"/>
                </a:lnTo>
                <a:lnTo>
                  <a:pt x="2293858" y="5606730"/>
                </a:lnTo>
                <a:lnTo>
                  <a:pt x="0" y="56067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7" name="Group 37"/>
          <p:cNvGrpSpPr/>
          <p:nvPr/>
        </p:nvGrpSpPr>
        <p:grpSpPr>
          <a:xfrm>
            <a:off x="6233017" y="1034244"/>
            <a:ext cx="173326" cy="5595061"/>
            <a:chOff x="0" y="0"/>
            <a:chExt cx="173330" cy="5595061"/>
          </a:xfrm>
        </p:grpSpPr>
        <p:sp>
          <p:nvSpPr>
            <p:cNvPr id="38" name="Freeform 38"/>
            <p:cNvSpPr/>
            <p:nvPr/>
          </p:nvSpPr>
          <p:spPr>
            <a:xfrm>
              <a:off x="97156" y="993140"/>
              <a:ext cx="12700" cy="4538473"/>
            </a:xfrm>
            <a:custGeom>
              <a:avLst/>
              <a:gdLst/>
              <a:ahLst/>
              <a:cxnLst/>
              <a:rect l="l" t="t" r="r" b="b"/>
              <a:pathLst>
                <a:path w="12700" h="4538473">
                  <a:moveTo>
                    <a:pt x="12701" y="0"/>
                  </a:moveTo>
                  <a:lnTo>
                    <a:pt x="12701" y="4538474"/>
                  </a:lnTo>
                  <a:lnTo>
                    <a:pt x="0" y="4538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63501" y="63500"/>
              <a:ext cx="40514" cy="828167"/>
            </a:xfrm>
            <a:custGeom>
              <a:avLst/>
              <a:gdLst/>
              <a:ahLst/>
              <a:cxnLst/>
              <a:rect l="l" t="t" r="r" b="b"/>
              <a:pathLst>
                <a:path w="40514" h="828167">
                  <a:moveTo>
                    <a:pt x="38101" y="0"/>
                  </a:moveTo>
                  <a:lnTo>
                    <a:pt x="40514" y="828040"/>
                  </a:lnTo>
                  <a:lnTo>
                    <a:pt x="2413" y="828167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F161D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8383676" y="1035987"/>
            <a:ext cx="167573" cy="5595290"/>
            <a:chOff x="0" y="0"/>
            <a:chExt cx="167577" cy="5595290"/>
          </a:xfrm>
        </p:grpSpPr>
        <p:sp>
          <p:nvSpPr>
            <p:cNvPr id="41" name="Freeform 41"/>
            <p:cNvSpPr/>
            <p:nvPr/>
          </p:nvSpPr>
          <p:spPr>
            <a:xfrm>
              <a:off x="80012" y="993394"/>
              <a:ext cx="12700" cy="4538474"/>
            </a:xfrm>
            <a:custGeom>
              <a:avLst/>
              <a:gdLst/>
              <a:ahLst/>
              <a:cxnLst/>
              <a:rect l="l" t="t" r="r" b="b"/>
              <a:pathLst>
                <a:path w="12700" h="4538474">
                  <a:moveTo>
                    <a:pt x="12700" y="0"/>
                  </a:moveTo>
                  <a:lnTo>
                    <a:pt x="12700" y="4538474"/>
                  </a:lnTo>
                  <a:lnTo>
                    <a:pt x="0" y="4538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63501" y="63500"/>
              <a:ext cx="40514" cy="828167"/>
            </a:xfrm>
            <a:custGeom>
              <a:avLst/>
              <a:gdLst/>
              <a:ahLst/>
              <a:cxnLst/>
              <a:rect l="l" t="t" r="r" b="b"/>
              <a:pathLst>
                <a:path w="40514" h="828167">
                  <a:moveTo>
                    <a:pt x="38101" y="0"/>
                  </a:moveTo>
                  <a:lnTo>
                    <a:pt x="40514" y="828040"/>
                  </a:lnTo>
                  <a:lnTo>
                    <a:pt x="2414" y="828167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F161D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0357561" y="1094680"/>
            <a:ext cx="40576" cy="828113"/>
            <a:chOff x="0" y="0"/>
            <a:chExt cx="40576" cy="8281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517" cy="828170"/>
            </a:xfrm>
            <a:custGeom>
              <a:avLst/>
              <a:gdLst/>
              <a:ahLst/>
              <a:cxnLst/>
              <a:rect l="l" t="t" r="r" b="b"/>
              <a:pathLst>
                <a:path w="40517" h="828170">
                  <a:moveTo>
                    <a:pt x="38104" y="0"/>
                  </a:moveTo>
                  <a:lnTo>
                    <a:pt x="40517" y="828043"/>
                  </a:lnTo>
                  <a:lnTo>
                    <a:pt x="2413" y="82817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F161D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377554" y="2049885"/>
            <a:ext cx="12697" cy="4538453"/>
            <a:chOff x="0" y="0"/>
            <a:chExt cx="12700" cy="453845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699" cy="4538478"/>
            </a:xfrm>
            <a:custGeom>
              <a:avLst/>
              <a:gdLst/>
              <a:ahLst/>
              <a:cxnLst/>
              <a:rect l="l" t="t" r="r" b="b"/>
              <a:pathLst>
                <a:path w="12699" h="4538478">
                  <a:moveTo>
                    <a:pt x="12699" y="0"/>
                  </a:moveTo>
                  <a:lnTo>
                    <a:pt x="12699" y="4538478"/>
                  </a:lnTo>
                  <a:lnTo>
                    <a:pt x="0" y="4538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085949" y="2032321"/>
            <a:ext cx="12697" cy="4538453"/>
            <a:chOff x="0" y="0"/>
            <a:chExt cx="12700" cy="453845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699" cy="4538478"/>
            </a:xfrm>
            <a:custGeom>
              <a:avLst/>
              <a:gdLst/>
              <a:ahLst/>
              <a:cxnLst/>
              <a:rect l="l" t="t" r="r" b="b"/>
              <a:pathLst>
                <a:path w="12699" h="4538478">
                  <a:moveTo>
                    <a:pt x="12699" y="0"/>
                  </a:moveTo>
                  <a:lnTo>
                    <a:pt x="12699" y="4538478"/>
                  </a:lnTo>
                  <a:lnTo>
                    <a:pt x="0" y="4538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0491330" y="1232535"/>
            <a:ext cx="1510294" cy="447227"/>
            <a:chOff x="0" y="0"/>
            <a:chExt cx="2013725" cy="5963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13712" cy="596265"/>
            </a:xfrm>
            <a:custGeom>
              <a:avLst/>
              <a:gdLst/>
              <a:ahLst/>
              <a:cxnLst/>
              <a:rect l="l" t="t" r="r" b="b"/>
              <a:pathLst>
                <a:path w="2013712" h="596265">
                  <a:moveTo>
                    <a:pt x="0" y="0"/>
                  </a:moveTo>
                  <a:lnTo>
                    <a:pt x="2013712" y="0"/>
                  </a:lnTo>
                  <a:lnTo>
                    <a:pt x="2013712" y="596265"/>
                  </a:lnTo>
                  <a:lnTo>
                    <a:pt x="0" y="596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6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2420407" y="1257071"/>
            <a:ext cx="1811531" cy="560603"/>
            <a:chOff x="0" y="0"/>
            <a:chExt cx="2415375" cy="74747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15413" cy="747522"/>
            </a:xfrm>
            <a:custGeom>
              <a:avLst/>
              <a:gdLst/>
              <a:ahLst/>
              <a:cxnLst/>
              <a:rect l="l" t="t" r="r" b="b"/>
              <a:pathLst>
                <a:path w="2415413" h="747522">
                  <a:moveTo>
                    <a:pt x="0" y="0"/>
                  </a:moveTo>
                  <a:lnTo>
                    <a:pt x="2415413" y="0"/>
                  </a:lnTo>
                  <a:lnTo>
                    <a:pt x="2415413" y="747522"/>
                  </a:lnTo>
                  <a:lnTo>
                    <a:pt x="0" y="747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" b="6"/>
              </a:stretch>
            </a:blipFill>
          </p:spPr>
        </p:sp>
      </p:grpSp>
      <p:sp>
        <p:nvSpPr>
          <p:cNvPr id="53" name="TextBox 53"/>
          <p:cNvSpPr txBox="1"/>
          <p:nvPr/>
        </p:nvSpPr>
        <p:spPr>
          <a:xfrm>
            <a:off x="780812" y="2696"/>
            <a:ext cx="4819298" cy="55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Competition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25373" y="2050704"/>
            <a:ext cx="1644260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Business Type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3511" y="2749077"/>
            <a:ext cx="1328337" cy="49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Category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53511" y="3395253"/>
            <a:ext cx="1691240" cy="49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Freshness</a:t>
            </a:r>
            <a:endParaRPr lang="en-US" sz="1800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362903" y="4007901"/>
            <a:ext cx="1051703" cy="494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Price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44824" y="4663221"/>
            <a:ext cx="2519232" cy="1069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64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Quality Control</a:t>
            </a:r>
          </a:p>
          <a:p>
            <a:pPr algn="l">
              <a:lnSpc>
                <a:spcPts val="4464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Delivery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4823" y="5894613"/>
            <a:ext cx="1971205" cy="1069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64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 Target</a:t>
            </a:r>
          </a:p>
          <a:p>
            <a:pPr algn="l">
              <a:lnSpc>
                <a:spcPts val="4464"/>
              </a:lnSpc>
            </a:pPr>
            <a:endParaRPr lang="en-US" sz="1800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2499341" y="2026342"/>
            <a:ext cx="1942379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Smart Farming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715866" y="2705924"/>
            <a:ext cx="1976458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Groceries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040084" y="3354579"/>
            <a:ext cx="717232" cy="50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75391" y="4056508"/>
            <a:ext cx="1427388" cy="1014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pc="5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</a:t>
            </a:r>
            <a:r>
              <a:rPr lang="en-US" sz="1800" spc="5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ow</a:t>
            </a:r>
          </a:p>
          <a:p>
            <a:pPr algn="ctr">
              <a:lnSpc>
                <a:spcPts val="3999"/>
              </a:lnSpc>
            </a:pPr>
            <a:r>
              <a:rPr lang="en-US" sz="1599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Strong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3B860DE-FCDF-4D52-AB35-634CD926AAB8}"/>
              </a:ext>
            </a:extLst>
          </p:cNvPr>
          <p:cNvGrpSpPr/>
          <p:nvPr/>
        </p:nvGrpSpPr>
        <p:grpSpPr>
          <a:xfrm>
            <a:off x="4659156" y="2807357"/>
            <a:ext cx="1394365" cy="496709"/>
            <a:chOff x="4667615" y="2818428"/>
            <a:chExt cx="1394365" cy="496709"/>
          </a:xfrm>
        </p:grpSpPr>
        <p:sp>
          <p:nvSpPr>
            <p:cNvPr id="64" name="TextBox 64"/>
            <p:cNvSpPr txBox="1"/>
            <p:nvPr/>
          </p:nvSpPr>
          <p:spPr>
            <a:xfrm>
              <a:off x="4667615" y="2818428"/>
              <a:ext cx="1394365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Groceries &amp; 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700595" y="3039331"/>
              <a:ext cx="1248632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spc="1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other items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195823" y="2731950"/>
            <a:ext cx="2580213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endParaRPr lang="en-US" sz="1800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4870866" y="3425916"/>
            <a:ext cx="1291771" cy="50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Medium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886287" y="4064408"/>
            <a:ext cx="929125" cy="485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z="1800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Medium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765224" y="4666650"/>
            <a:ext cx="1421040" cy="473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Very Strong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642828" y="5257962"/>
            <a:ext cx="1538211" cy="48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z="1800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Within 2 hours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492547" y="5885451"/>
            <a:ext cx="2928957" cy="473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pc="5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Mass Customers</a:t>
            </a:r>
            <a:endParaRPr lang="en-US" sz="1800" spc="5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6751251" y="2276544"/>
            <a:ext cx="1394365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Online Shop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902174" y="3407525"/>
            <a:ext cx="1012010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Medium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905469" y="4071545"/>
            <a:ext cx="1045434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Medium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852619" y="4695008"/>
            <a:ext cx="1063685" cy="44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Strong</a:t>
            </a:r>
            <a:endParaRPr lang="en-US" sz="1800" dirty="0">
              <a:solidFill>
                <a:srgbClr val="F2F2F2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6666852" y="5307111"/>
            <a:ext cx="1448372" cy="399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1800" spc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Within 1 hour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689995" y="2295369"/>
            <a:ext cx="1394365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 Shop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534157" y="2298865"/>
            <a:ext cx="1886615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 Market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071486" y="3399491"/>
            <a:ext cx="781822" cy="49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Low</a:t>
            </a:r>
            <a:endParaRPr lang="en-US" sz="180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0887213" y="3389857"/>
            <a:ext cx="717242" cy="50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Low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954848" y="4053108"/>
            <a:ext cx="1138781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Medium</a:t>
            </a:r>
            <a:r>
              <a:rPr lang="en-US" sz="1800" spc="1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775681" y="4053108"/>
            <a:ext cx="1052099" cy="4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Medium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935742" y="4711877"/>
            <a:ext cx="1063685" cy="44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Strong</a:t>
            </a:r>
            <a:endParaRPr lang="en-US" sz="1800" dirty="0">
              <a:solidFill>
                <a:srgbClr val="F2F2F2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10871345" y="4645038"/>
            <a:ext cx="1063685" cy="50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Strong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563589" y="5351918"/>
            <a:ext cx="3476454" cy="39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1800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Within 2-3 hours   Within 3 hours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592924" y="5275345"/>
            <a:ext cx="1391507" cy="44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1599" dirty="0">
                <a:solidFill>
                  <a:srgbClr val="F2F2F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Within 45 mins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469914" y="6087838"/>
            <a:ext cx="1728473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Health-conscious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1AAE978-2B5B-41A9-97C6-2BD6241B0733}"/>
              </a:ext>
            </a:extLst>
          </p:cNvPr>
          <p:cNvGrpSpPr/>
          <p:nvPr/>
        </p:nvGrpSpPr>
        <p:grpSpPr>
          <a:xfrm>
            <a:off x="6793735" y="2837611"/>
            <a:ext cx="1394365" cy="496709"/>
            <a:chOff x="4667615" y="2818428"/>
            <a:chExt cx="1394365" cy="496709"/>
          </a:xfrm>
        </p:grpSpPr>
        <p:sp>
          <p:nvSpPr>
            <p:cNvPr id="98" name="TextBox 64">
              <a:extLst>
                <a:ext uri="{FF2B5EF4-FFF2-40B4-BE49-F238E27FC236}">
                  <a16:creationId xmlns:a16="http://schemas.microsoft.com/office/drawing/2014/main" id="{6190A766-6132-4B60-AB39-9896F1C646A3}"/>
                </a:ext>
              </a:extLst>
            </p:cNvPr>
            <p:cNvSpPr txBox="1"/>
            <p:nvPr/>
          </p:nvSpPr>
          <p:spPr>
            <a:xfrm>
              <a:off x="4667615" y="2818428"/>
              <a:ext cx="1394365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Groceries &amp; </a:t>
              </a:r>
            </a:p>
          </p:txBody>
        </p:sp>
        <p:sp>
          <p:nvSpPr>
            <p:cNvPr id="99" name="TextBox 65">
              <a:extLst>
                <a:ext uri="{FF2B5EF4-FFF2-40B4-BE49-F238E27FC236}">
                  <a16:creationId xmlns:a16="http://schemas.microsoft.com/office/drawing/2014/main" id="{69ABCBD7-A6A4-48BE-9001-6DD53F0ED3D6}"/>
                </a:ext>
              </a:extLst>
            </p:cNvPr>
            <p:cNvSpPr txBox="1"/>
            <p:nvPr/>
          </p:nvSpPr>
          <p:spPr>
            <a:xfrm>
              <a:off x="4700595" y="3039331"/>
              <a:ext cx="1248632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spc="1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other items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EC94C62-C1BF-4942-9483-B53DBD56AA1E}"/>
              </a:ext>
            </a:extLst>
          </p:cNvPr>
          <p:cNvGrpSpPr/>
          <p:nvPr/>
        </p:nvGrpSpPr>
        <p:grpSpPr>
          <a:xfrm>
            <a:off x="8768589" y="2802718"/>
            <a:ext cx="1394365" cy="496709"/>
            <a:chOff x="4667615" y="2818428"/>
            <a:chExt cx="1394365" cy="496709"/>
          </a:xfrm>
        </p:grpSpPr>
        <p:sp>
          <p:nvSpPr>
            <p:cNvPr id="101" name="TextBox 64">
              <a:extLst>
                <a:ext uri="{FF2B5EF4-FFF2-40B4-BE49-F238E27FC236}">
                  <a16:creationId xmlns:a16="http://schemas.microsoft.com/office/drawing/2014/main" id="{E33672DA-EB89-4D32-9547-642964E93E85}"/>
                </a:ext>
              </a:extLst>
            </p:cNvPr>
            <p:cNvSpPr txBox="1"/>
            <p:nvPr/>
          </p:nvSpPr>
          <p:spPr>
            <a:xfrm>
              <a:off x="4667615" y="2818428"/>
              <a:ext cx="1394365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Groceries &amp; </a:t>
              </a:r>
            </a:p>
          </p:txBody>
        </p:sp>
        <p:sp>
          <p:nvSpPr>
            <p:cNvPr id="102" name="TextBox 65">
              <a:extLst>
                <a:ext uri="{FF2B5EF4-FFF2-40B4-BE49-F238E27FC236}">
                  <a16:creationId xmlns:a16="http://schemas.microsoft.com/office/drawing/2014/main" id="{06367D8E-58FB-4AFE-9AD2-A4B1E44DC275}"/>
                </a:ext>
              </a:extLst>
            </p:cNvPr>
            <p:cNvSpPr txBox="1"/>
            <p:nvPr/>
          </p:nvSpPr>
          <p:spPr>
            <a:xfrm>
              <a:off x="4700595" y="3039331"/>
              <a:ext cx="1248632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spc="1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other items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AE36944-D933-4282-A93B-85A3674EA2F4}"/>
              </a:ext>
            </a:extLst>
          </p:cNvPr>
          <p:cNvGrpSpPr/>
          <p:nvPr/>
        </p:nvGrpSpPr>
        <p:grpSpPr>
          <a:xfrm>
            <a:off x="10548651" y="2809792"/>
            <a:ext cx="1394365" cy="496709"/>
            <a:chOff x="4667615" y="2818428"/>
            <a:chExt cx="1394365" cy="496709"/>
          </a:xfrm>
        </p:grpSpPr>
        <p:sp>
          <p:nvSpPr>
            <p:cNvPr id="104" name="TextBox 64">
              <a:extLst>
                <a:ext uri="{FF2B5EF4-FFF2-40B4-BE49-F238E27FC236}">
                  <a16:creationId xmlns:a16="http://schemas.microsoft.com/office/drawing/2014/main" id="{319EA0FF-00CA-41DD-A5D3-A78510844435}"/>
                </a:ext>
              </a:extLst>
            </p:cNvPr>
            <p:cNvSpPr txBox="1"/>
            <p:nvPr/>
          </p:nvSpPr>
          <p:spPr>
            <a:xfrm>
              <a:off x="4667615" y="2818428"/>
              <a:ext cx="1394365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Groceries &amp; </a:t>
              </a:r>
            </a:p>
          </p:txBody>
        </p:sp>
        <p:sp>
          <p:nvSpPr>
            <p:cNvPr id="105" name="TextBox 65">
              <a:extLst>
                <a:ext uri="{FF2B5EF4-FFF2-40B4-BE49-F238E27FC236}">
                  <a16:creationId xmlns:a16="http://schemas.microsoft.com/office/drawing/2014/main" id="{B0FB9124-C5B9-4E99-BCC5-9943E0A8F76F}"/>
                </a:ext>
              </a:extLst>
            </p:cNvPr>
            <p:cNvSpPr txBox="1"/>
            <p:nvPr/>
          </p:nvSpPr>
          <p:spPr>
            <a:xfrm>
              <a:off x="4700595" y="3039331"/>
              <a:ext cx="1248632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spc="1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other items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76DED84-2466-40DE-9EE3-FE28E6A52E3D}"/>
              </a:ext>
            </a:extLst>
          </p:cNvPr>
          <p:cNvGrpSpPr/>
          <p:nvPr/>
        </p:nvGrpSpPr>
        <p:grpSpPr>
          <a:xfrm>
            <a:off x="4673308" y="2268617"/>
            <a:ext cx="1394365" cy="496709"/>
            <a:chOff x="4667615" y="2818428"/>
            <a:chExt cx="1394365" cy="496709"/>
          </a:xfrm>
        </p:grpSpPr>
        <p:sp>
          <p:nvSpPr>
            <p:cNvPr id="107" name="TextBox 64">
              <a:extLst>
                <a:ext uri="{FF2B5EF4-FFF2-40B4-BE49-F238E27FC236}">
                  <a16:creationId xmlns:a16="http://schemas.microsoft.com/office/drawing/2014/main" id="{EBBC6A44-133A-4DBE-9182-B736363AF20B}"/>
                </a:ext>
              </a:extLst>
            </p:cNvPr>
            <p:cNvSpPr txBox="1"/>
            <p:nvPr/>
          </p:nvSpPr>
          <p:spPr>
            <a:xfrm>
              <a:off x="4667615" y="2818428"/>
              <a:ext cx="1394365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r>
                <a:rPr lang="en-US" sz="1800" dirty="0">
                  <a:solidFill>
                    <a:srgbClr val="00206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Super Shop </a:t>
              </a:r>
            </a:p>
          </p:txBody>
        </p:sp>
        <p:sp>
          <p:nvSpPr>
            <p:cNvPr id="108" name="TextBox 65">
              <a:extLst>
                <a:ext uri="{FF2B5EF4-FFF2-40B4-BE49-F238E27FC236}">
                  <a16:creationId xmlns:a16="http://schemas.microsoft.com/office/drawing/2014/main" id="{B8E62016-F1EB-4388-AAF0-64339D33777C}"/>
                </a:ext>
              </a:extLst>
            </p:cNvPr>
            <p:cNvSpPr txBox="1"/>
            <p:nvPr/>
          </p:nvSpPr>
          <p:spPr>
            <a:xfrm>
              <a:off x="4700595" y="3039331"/>
              <a:ext cx="1248632" cy="27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11"/>
                </a:lnSpc>
              </a:pPr>
              <a:endParaRPr lang="en-US" sz="1800" spc="1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</p:txBody>
        </p:sp>
      </p:grpSp>
      <p:sp>
        <p:nvSpPr>
          <p:cNvPr id="109" name="TextBox 71">
            <a:extLst>
              <a:ext uri="{FF2B5EF4-FFF2-40B4-BE49-F238E27FC236}">
                <a16:creationId xmlns:a16="http://schemas.microsoft.com/office/drawing/2014/main" id="{5DCB69DC-2C4B-47E7-A238-CE88D855AE02}"/>
              </a:ext>
            </a:extLst>
          </p:cNvPr>
          <p:cNvSpPr txBox="1"/>
          <p:nvPr/>
        </p:nvSpPr>
        <p:spPr>
          <a:xfrm>
            <a:off x="6682403" y="5888582"/>
            <a:ext cx="2928957" cy="473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pc="5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Online Buyers</a:t>
            </a:r>
            <a:endParaRPr lang="en-US" sz="1800" spc="5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10" name="TextBox 71">
            <a:extLst>
              <a:ext uri="{FF2B5EF4-FFF2-40B4-BE49-F238E27FC236}">
                <a16:creationId xmlns:a16="http://schemas.microsoft.com/office/drawing/2014/main" id="{B9C09C61-8456-4A0C-9F31-A0156263AA30}"/>
              </a:ext>
            </a:extLst>
          </p:cNvPr>
          <p:cNvSpPr txBox="1"/>
          <p:nvPr/>
        </p:nvSpPr>
        <p:spPr>
          <a:xfrm>
            <a:off x="8563589" y="5864693"/>
            <a:ext cx="2928957" cy="473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pc="5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Family Shoppers</a:t>
            </a:r>
            <a:endParaRPr lang="en-US" sz="1800" spc="5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9524422E-5932-438F-8AAE-BD837FEC7746}"/>
              </a:ext>
            </a:extLst>
          </p:cNvPr>
          <p:cNvSpPr txBox="1"/>
          <p:nvPr/>
        </p:nvSpPr>
        <p:spPr>
          <a:xfrm>
            <a:off x="9785517" y="5913745"/>
            <a:ext cx="292895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pc="5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Premium </a:t>
            </a:r>
          </a:p>
          <a:p>
            <a:pPr algn="ctr"/>
            <a:r>
              <a:rPr lang="en-US" spc="5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Customers</a:t>
            </a:r>
            <a:endParaRPr lang="en-US" sz="1800" spc="5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-31040" y="-269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00" b="-9000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1" name="Group 6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  <a:solidFill>
            <a:schemeClr val="accent4">
              <a:lumMod val="75000"/>
            </a:schemeClr>
          </a:solidFill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63" name="Group 63"/>
          <p:cNvGrpSpPr/>
          <p:nvPr/>
        </p:nvGrpSpPr>
        <p:grpSpPr>
          <a:xfrm>
            <a:off x="805747" y="556766"/>
            <a:ext cx="3426619" cy="45719"/>
            <a:chOff x="0" y="0"/>
            <a:chExt cx="1777428" cy="38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777368" cy="38099"/>
            </a:xfrm>
            <a:custGeom>
              <a:avLst/>
              <a:gdLst/>
              <a:ahLst/>
              <a:cxnLst/>
              <a:rect l="l" t="t" r="r" b="b"/>
              <a:pathLst>
                <a:path w="1777368" h="38099">
                  <a:moveTo>
                    <a:pt x="0" y="0"/>
                  </a:moveTo>
                  <a:lnTo>
                    <a:pt x="1777368" y="0"/>
                  </a:lnTo>
                  <a:lnTo>
                    <a:pt x="1777368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225173" y="5442604"/>
            <a:ext cx="58036" cy="30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47426" y="5506993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63767" y="5534425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80811" y="2696"/>
            <a:ext cx="3715121" cy="538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Marketing &amp; Sales</a:t>
            </a:r>
          </a:p>
        </p:txBody>
      </p:sp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33191710-6ACC-4456-A56D-945A91E02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277642"/>
              </p:ext>
            </p:extLst>
          </p:nvPr>
        </p:nvGraphicFramePr>
        <p:xfrm>
          <a:off x="426159" y="3077726"/>
          <a:ext cx="11277602" cy="311119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611086">
                  <a:extLst>
                    <a:ext uri="{9D8B030D-6E8A-4147-A177-3AD203B41FA5}">
                      <a16:colId xmlns:a16="http://schemas.microsoft.com/office/drawing/2014/main" val="962985086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934855090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050088338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284942007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108462746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739827203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1430984308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 (</a:t>
                      </a:r>
                      <a:r>
                        <a:rPr lang="as-IN" dirty="0"/>
                        <a:t>৳)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(</a:t>
                      </a:r>
                      <a:r>
                        <a:rPr lang="as-IN" dirty="0"/>
                        <a:t>৳)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Operating Profit (</a:t>
                      </a:r>
                      <a:r>
                        <a:rPr lang="as-IN" dirty="0"/>
                        <a:t>৳)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 Loss Adjusted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 Cumulative Profit (</a:t>
                      </a:r>
                      <a:r>
                        <a:rPr lang="as-IN" dirty="0"/>
                        <a:t>৳)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Growth Rate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751036"/>
                  </a:ext>
                </a:extLst>
              </a:tr>
              <a:tr h="424118">
                <a:tc>
                  <a:txBody>
                    <a:bodyPr/>
                    <a:lstStyle/>
                    <a:p>
                      <a:r>
                        <a:rPr lang="en-US"/>
                        <a:t>Year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-2,00,000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Base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021101"/>
                  </a:ext>
                </a:extLst>
              </a:tr>
              <a:tr h="424118">
                <a:tc>
                  <a:txBody>
                    <a:bodyPr/>
                    <a:lstStyle/>
                    <a:p>
                      <a:r>
                        <a:rPr lang="en-US"/>
                        <a:t>Year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3,20,000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-2,00,000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+260%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727650"/>
                  </a:ext>
                </a:extLst>
              </a:tr>
              <a:tr h="424118">
                <a:tc>
                  <a:txBody>
                    <a:bodyPr/>
                    <a:lstStyle/>
                    <a:p>
                      <a:r>
                        <a:rPr lang="en-US"/>
                        <a:t>Year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3,20,000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+166%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491686"/>
                  </a:ext>
                </a:extLst>
              </a:tr>
              <a:tr h="424118">
                <a:tc>
                  <a:txBody>
                    <a:bodyPr/>
                    <a:lstStyle/>
                    <a:p>
                      <a:r>
                        <a:rPr lang="en-US"/>
                        <a:t>Year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3,20,000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7,60,000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751307"/>
                  </a:ext>
                </a:extLst>
              </a:tr>
              <a:tr h="424118">
                <a:tc>
                  <a:txBody>
                    <a:bodyPr/>
                    <a:lstStyle/>
                    <a:p>
                      <a:r>
                        <a:rPr lang="en-US"/>
                        <a:t>Year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3,20,000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7,60,000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10,80,000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+42%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145379"/>
                  </a:ext>
                </a:extLst>
              </a:tr>
            </a:tbl>
          </a:graphicData>
        </a:graphic>
      </p:graphicFrame>
      <p:sp>
        <p:nvSpPr>
          <p:cNvPr id="91" name="TextBox 87">
            <a:extLst>
              <a:ext uri="{FF2B5EF4-FFF2-40B4-BE49-F238E27FC236}">
                <a16:creationId xmlns:a16="http://schemas.microsoft.com/office/drawing/2014/main" id="{820FBCA6-A766-461C-8BEB-7CF32CC6594C}"/>
              </a:ext>
            </a:extLst>
          </p:cNvPr>
          <p:cNvSpPr txBox="1"/>
          <p:nvPr/>
        </p:nvSpPr>
        <p:spPr>
          <a:xfrm>
            <a:off x="412177" y="1092675"/>
            <a:ext cx="1176277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Marketing Strategy</a:t>
            </a:r>
          </a:p>
          <a:p>
            <a:pPr algn="ctr"/>
            <a:endParaRPr lang="en-US" b="1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Target: Urban health-conscious consumers in Dhaka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Model: Direct-to-Consumer (D2C) for fresh delivery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Promotion: Social media marketing (Facebook, Instagram) with “Farm-to-Table Freshness” branding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988287" y="2810608"/>
            <a:ext cx="7932811" cy="926325"/>
          </a:xfrm>
          <a:custGeom>
            <a:avLst/>
            <a:gdLst/>
            <a:ahLst/>
            <a:cxnLst/>
            <a:rect l="l" t="t" r="r" b="b"/>
            <a:pathLst>
              <a:path w="7932811" h="926325">
                <a:moveTo>
                  <a:pt x="0" y="0"/>
                </a:moveTo>
                <a:lnTo>
                  <a:pt x="7932810" y="0"/>
                </a:lnTo>
                <a:lnTo>
                  <a:pt x="7932810" y="926326"/>
                </a:lnTo>
                <a:lnTo>
                  <a:pt x="0" y="926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88287" y="5082378"/>
            <a:ext cx="7932811" cy="1062885"/>
          </a:xfrm>
          <a:custGeom>
            <a:avLst/>
            <a:gdLst/>
            <a:ahLst/>
            <a:cxnLst/>
            <a:rect l="l" t="t" r="r" b="b"/>
            <a:pathLst>
              <a:path w="7932811" h="1062885">
                <a:moveTo>
                  <a:pt x="0" y="0"/>
                </a:moveTo>
                <a:lnTo>
                  <a:pt x="7932810" y="0"/>
                </a:lnTo>
                <a:lnTo>
                  <a:pt x="7932810" y="1062885"/>
                </a:lnTo>
                <a:lnTo>
                  <a:pt x="0" y="10628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64683" y="1711147"/>
            <a:ext cx="7938868" cy="926325"/>
          </a:xfrm>
          <a:custGeom>
            <a:avLst/>
            <a:gdLst/>
            <a:ahLst/>
            <a:cxnLst/>
            <a:rect l="l" t="t" r="r" b="b"/>
            <a:pathLst>
              <a:path w="7938868" h="926325">
                <a:moveTo>
                  <a:pt x="0" y="0"/>
                </a:moveTo>
                <a:lnTo>
                  <a:pt x="7938868" y="0"/>
                </a:lnTo>
                <a:lnTo>
                  <a:pt x="7938868" y="926325"/>
                </a:lnTo>
                <a:lnTo>
                  <a:pt x="0" y="92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64683" y="3928320"/>
            <a:ext cx="7938868" cy="926249"/>
          </a:xfrm>
          <a:custGeom>
            <a:avLst/>
            <a:gdLst/>
            <a:ahLst/>
            <a:cxnLst/>
            <a:rect l="l" t="t" r="r" b="b"/>
            <a:pathLst>
              <a:path w="7938868" h="926249">
                <a:moveTo>
                  <a:pt x="0" y="0"/>
                </a:moveTo>
                <a:lnTo>
                  <a:pt x="7938868" y="0"/>
                </a:lnTo>
                <a:lnTo>
                  <a:pt x="7938868" y="926249"/>
                </a:lnTo>
                <a:lnTo>
                  <a:pt x="0" y="9262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929384" y="1344168"/>
            <a:ext cx="2109216" cy="1697736"/>
            <a:chOff x="0" y="0"/>
            <a:chExt cx="2812288" cy="22636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12288" cy="2263648"/>
            </a:xfrm>
            <a:custGeom>
              <a:avLst/>
              <a:gdLst/>
              <a:ahLst/>
              <a:cxnLst/>
              <a:rect l="l" t="t" r="r" b="b"/>
              <a:pathLst>
                <a:path w="2812288" h="2263648">
                  <a:moveTo>
                    <a:pt x="0" y="0"/>
                  </a:moveTo>
                  <a:lnTo>
                    <a:pt x="2812288" y="0"/>
                  </a:lnTo>
                  <a:lnTo>
                    <a:pt x="2812288" y="2263648"/>
                  </a:lnTo>
                  <a:lnTo>
                    <a:pt x="0" y="226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988287" y="1364980"/>
            <a:ext cx="1992344" cy="1579245"/>
          </a:xfrm>
          <a:custGeom>
            <a:avLst/>
            <a:gdLst/>
            <a:ahLst/>
            <a:cxnLst/>
            <a:rect l="l" t="t" r="r" b="b"/>
            <a:pathLst>
              <a:path w="1992344" h="1579245">
                <a:moveTo>
                  <a:pt x="0" y="0"/>
                </a:moveTo>
                <a:lnTo>
                  <a:pt x="1992344" y="0"/>
                </a:lnTo>
                <a:lnTo>
                  <a:pt x="1992344" y="1579245"/>
                </a:lnTo>
                <a:lnTo>
                  <a:pt x="0" y="15792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212848" y="1630680"/>
            <a:ext cx="1103376" cy="1106424"/>
            <a:chOff x="0" y="0"/>
            <a:chExt cx="1471168" cy="14752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71168" cy="1475232"/>
            </a:xfrm>
            <a:custGeom>
              <a:avLst/>
              <a:gdLst/>
              <a:ahLst/>
              <a:cxnLst/>
              <a:rect l="l" t="t" r="r" b="b"/>
              <a:pathLst>
                <a:path w="1471168" h="1475232">
                  <a:moveTo>
                    <a:pt x="0" y="0"/>
                  </a:moveTo>
                  <a:lnTo>
                    <a:pt x="1471168" y="0"/>
                  </a:lnTo>
                  <a:lnTo>
                    <a:pt x="1471168" y="1475232"/>
                  </a:lnTo>
                  <a:lnTo>
                    <a:pt x="0" y="147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307336" y="1804416"/>
            <a:ext cx="911352" cy="859536"/>
            <a:chOff x="0" y="0"/>
            <a:chExt cx="1215136" cy="1146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5136" cy="1146048"/>
            </a:xfrm>
            <a:custGeom>
              <a:avLst/>
              <a:gdLst/>
              <a:ahLst/>
              <a:cxnLst/>
              <a:rect l="l" t="t" r="r" b="b"/>
              <a:pathLst>
                <a:path w="1215136" h="1146048">
                  <a:moveTo>
                    <a:pt x="0" y="0"/>
                  </a:moveTo>
                  <a:lnTo>
                    <a:pt x="1215136" y="0"/>
                  </a:lnTo>
                  <a:lnTo>
                    <a:pt x="1215136" y="1146048"/>
                  </a:lnTo>
                  <a:lnTo>
                    <a:pt x="0" y="114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2270741" y="1671666"/>
            <a:ext cx="987047" cy="987123"/>
          </a:xfrm>
          <a:custGeom>
            <a:avLst/>
            <a:gdLst/>
            <a:ahLst/>
            <a:cxnLst/>
            <a:rect l="l" t="t" r="r" b="b"/>
            <a:pathLst>
              <a:path w="987047" h="987123">
                <a:moveTo>
                  <a:pt x="0" y="0"/>
                </a:moveTo>
                <a:lnTo>
                  <a:pt x="987047" y="0"/>
                </a:lnTo>
                <a:lnTo>
                  <a:pt x="987047" y="987123"/>
                </a:lnTo>
                <a:lnTo>
                  <a:pt x="0" y="9871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8" name="Group 18"/>
          <p:cNvGrpSpPr/>
          <p:nvPr/>
        </p:nvGrpSpPr>
        <p:grpSpPr>
          <a:xfrm>
            <a:off x="1929384" y="3560064"/>
            <a:ext cx="2109216" cy="1697736"/>
            <a:chOff x="0" y="0"/>
            <a:chExt cx="2812288" cy="22636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12288" cy="2263648"/>
            </a:xfrm>
            <a:custGeom>
              <a:avLst/>
              <a:gdLst/>
              <a:ahLst/>
              <a:cxnLst/>
              <a:rect l="l" t="t" r="r" b="b"/>
              <a:pathLst>
                <a:path w="2812288" h="2263648">
                  <a:moveTo>
                    <a:pt x="0" y="0"/>
                  </a:moveTo>
                  <a:lnTo>
                    <a:pt x="2812288" y="0"/>
                  </a:lnTo>
                  <a:lnTo>
                    <a:pt x="2812288" y="2263648"/>
                  </a:lnTo>
                  <a:lnTo>
                    <a:pt x="0" y="226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988287" y="3582076"/>
            <a:ext cx="1992344" cy="1579255"/>
          </a:xfrm>
          <a:custGeom>
            <a:avLst/>
            <a:gdLst/>
            <a:ahLst/>
            <a:cxnLst/>
            <a:rect l="l" t="t" r="r" b="b"/>
            <a:pathLst>
              <a:path w="1992344" h="1579255">
                <a:moveTo>
                  <a:pt x="0" y="0"/>
                </a:moveTo>
                <a:lnTo>
                  <a:pt x="1992344" y="0"/>
                </a:lnTo>
                <a:lnTo>
                  <a:pt x="1992344" y="1579255"/>
                </a:lnTo>
                <a:lnTo>
                  <a:pt x="0" y="157925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212848" y="3861816"/>
            <a:ext cx="1103376" cy="1103376"/>
            <a:chOff x="0" y="0"/>
            <a:chExt cx="1471168" cy="14711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1168" cy="1471168"/>
            </a:xfrm>
            <a:custGeom>
              <a:avLst/>
              <a:gdLst/>
              <a:ahLst/>
              <a:cxnLst/>
              <a:rect l="l" t="t" r="r" b="b"/>
              <a:pathLst>
                <a:path w="1471168" h="1471168">
                  <a:moveTo>
                    <a:pt x="0" y="0"/>
                  </a:moveTo>
                  <a:lnTo>
                    <a:pt x="1471168" y="0"/>
                  </a:lnTo>
                  <a:lnTo>
                    <a:pt x="1471168" y="1471168"/>
                  </a:lnTo>
                  <a:lnTo>
                    <a:pt x="0" y="147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307336" y="4032504"/>
            <a:ext cx="911352" cy="862584"/>
            <a:chOff x="0" y="0"/>
            <a:chExt cx="1215136" cy="11501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5136" cy="1150112"/>
            </a:xfrm>
            <a:custGeom>
              <a:avLst/>
              <a:gdLst/>
              <a:ahLst/>
              <a:cxnLst/>
              <a:rect l="l" t="t" r="r" b="b"/>
              <a:pathLst>
                <a:path w="1215136" h="1150112">
                  <a:moveTo>
                    <a:pt x="0" y="0"/>
                  </a:moveTo>
                  <a:lnTo>
                    <a:pt x="1215136" y="0"/>
                  </a:lnTo>
                  <a:lnTo>
                    <a:pt x="1215136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2270741" y="3900954"/>
            <a:ext cx="987047" cy="987047"/>
          </a:xfrm>
          <a:custGeom>
            <a:avLst/>
            <a:gdLst/>
            <a:ahLst/>
            <a:cxnLst/>
            <a:rect l="l" t="t" r="r" b="b"/>
            <a:pathLst>
              <a:path w="987047" h="987047">
                <a:moveTo>
                  <a:pt x="0" y="0"/>
                </a:moveTo>
                <a:lnTo>
                  <a:pt x="987047" y="0"/>
                </a:lnTo>
                <a:lnTo>
                  <a:pt x="987047" y="987047"/>
                </a:lnTo>
                <a:lnTo>
                  <a:pt x="0" y="9870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8150352" y="2444496"/>
            <a:ext cx="2112264" cy="1694688"/>
            <a:chOff x="0" y="0"/>
            <a:chExt cx="2816352" cy="22595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16352" cy="2259584"/>
            </a:xfrm>
            <a:custGeom>
              <a:avLst/>
              <a:gdLst/>
              <a:ahLst/>
              <a:cxnLst/>
              <a:rect l="l" t="t" r="r" b="b"/>
              <a:pathLst>
                <a:path w="2816352" h="2259584">
                  <a:moveTo>
                    <a:pt x="0" y="0"/>
                  </a:moveTo>
                  <a:lnTo>
                    <a:pt x="2816352" y="0"/>
                  </a:lnTo>
                  <a:lnTo>
                    <a:pt x="2816352" y="2259584"/>
                  </a:lnTo>
                  <a:lnTo>
                    <a:pt x="0" y="2259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8208302" y="2464365"/>
            <a:ext cx="1995335" cy="1579321"/>
          </a:xfrm>
          <a:custGeom>
            <a:avLst/>
            <a:gdLst/>
            <a:ahLst/>
            <a:cxnLst/>
            <a:rect l="l" t="t" r="r" b="b"/>
            <a:pathLst>
              <a:path w="1995335" h="1579321">
                <a:moveTo>
                  <a:pt x="0" y="0"/>
                </a:moveTo>
                <a:lnTo>
                  <a:pt x="1995335" y="0"/>
                </a:lnTo>
                <a:lnTo>
                  <a:pt x="1995335" y="1579321"/>
                </a:lnTo>
                <a:lnTo>
                  <a:pt x="0" y="157932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8863584" y="2727960"/>
            <a:ext cx="1103376" cy="1106424"/>
            <a:chOff x="0" y="0"/>
            <a:chExt cx="1471168" cy="14752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71168" cy="1475232"/>
            </a:xfrm>
            <a:custGeom>
              <a:avLst/>
              <a:gdLst/>
              <a:ahLst/>
              <a:cxnLst/>
              <a:rect l="l" t="t" r="r" b="b"/>
              <a:pathLst>
                <a:path w="1471168" h="1475232">
                  <a:moveTo>
                    <a:pt x="0" y="0"/>
                  </a:moveTo>
                  <a:lnTo>
                    <a:pt x="1471168" y="0"/>
                  </a:lnTo>
                  <a:lnTo>
                    <a:pt x="1471168" y="1475232"/>
                  </a:lnTo>
                  <a:lnTo>
                    <a:pt x="0" y="147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8961120" y="2901696"/>
            <a:ext cx="911352" cy="859536"/>
            <a:chOff x="0" y="0"/>
            <a:chExt cx="1215136" cy="11460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5136" cy="1146048"/>
            </a:xfrm>
            <a:custGeom>
              <a:avLst/>
              <a:gdLst/>
              <a:ahLst/>
              <a:cxnLst/>
              <a:rect l="l" t="t" r="r" b="b"/>
              <a:pathLst>
                <a:path w="1215136" h="1146048">
                  <a:moveTo>
                    <a:pt x="0" y="0"/>
                  </a:moveTo>
                  <a:lnTo>
                    <a:pt x="1215136" y="0"/>
                  </a:lnTo>
                  <a:lnTo>
                    <a:pt x="1215136" y="1146048"/>
                  </a:lnTo>
                  <a:lnTo>
                    <a:pt x="0" y="114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sp>
        <p:nvSpPr>
          <p:cNvPr id="33" name="Freeform 33"/>
          <p:cNvSpPr/>
          <p:nvPr/>
        </p:nvSpPr>
        <p:spPr>
          <a:xfrm>
            <a:off x="8922029" y="2768136"/>
            <a:ext cx="987047" cy="987047"/>
          </a:xfrm>
          <a:custGeom>
            <a:avLst/>
            <a:gdLst/>
            <a:ahLst/>
            <a:cxnLst/>
            <a:rect l="l" t="t" r="r" b="b"/>
            <a:pathLst>
              <a:path w="987047" h="987047">
                <a:moveTo>
                  <a:pt x="0" y="0"/>
                </a:moveTo>
                <a:lnTo>
                  <a:pt x="987048" y="0"/>
                </a:lnTo>
                <a:lnTo>
                  <a:pt x="987048" y="987048"/>
                </a:lnTo>
                <a:lnTo>
                  <a:pt x="0" y="98704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8150352" y="4715256"/>
            <a:ext cx="2112264" cy="1697736"/>
            <a:chOff x="0" y="0"/>
            <a:chExt cx="2816352" cy="22636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816352" cy="2263648"/>
            </a:xfrm>
            <a:custGeom>
              <a:avLst/>
              <a:gdLst/>
              <a:ahLst/>
              <a:cxnLst/>
              <a:rect l="l" t="t" r="r" b="b"/>
              <a:pathLst>
                <a:path w="2816352" h="2263648">
                  <a:moveTo>
                    <a:pt x="0" y="0"/>
                  </a:moveTo>
                  <a:lnTo>
                    <a:pt x="2816352" y="0"/>
                  </a:lnTo>
                  <a:lnTo>
                    <a:pt x="2816352" y="2263648"/>
                  </a:lnTo>
                  <a:lnTo>
                    <a:pt x="0" y="226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  <p:sp>
        <p:nvSpPr>
          <p:cNvPr id="36" name="Freeform 36"/>
          <p:cNvSpPr/>
          <p:nvPr/>
        </p:nvSpPr>
        <p:spPr>
          <a:xfrm>
            <a:off x="8208302" y="4736135"/>
            <a:ext cx="1995335" cy="1579321"/>
          </a:xfrm>
          <a:custGeom>
            <a:avLst/>
            <a:gdLst/>
            <a:ahLst/>
            <a:cxnLst/>
            <a:rect l="l" t="t" r="r" b="b"/>
            <a:pathLst>
              <a:path w="1995335" h="1579321">
                <a:moveTo>
                  <a:pt x="0" y="0"/>
                </a:moveTo>
                <a:lnTo>
                  <a:pt x="1995335" y="0"/>
                </a:lnTo>
                <a:lnTo>
                  <a:pt x="1995335" y="1579321"/>
                </a:lnTo>
                <a:lnTo>
                  <a:pt x="0" y="157932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8863584" y="5001768"/>
            <a:ext cx="1103376" cy="1103376"/>
            <a:chOff x="0" y="0"/>
            <a:chExt cx="1471168" cy="14711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71168" cy="1471168"/>
            </a:xfrm>
            <a:custGeom>
              <a:avLst/>
              <a:gdLst/>
              <a:ahLst/>
              <a:cxnLst/>
              <a:rect l="l" t="t" r="r" b="b"/>
              <a:pathLst>
                <a:path w="1471168" h="1471168">
                  <a:moveTo>
                    <a:pt x="0" y="0"/>
                  </a:moveTo>
                  <a:lnTo>
                    <a:pt x="1471168" y="0"/>
                  </a:lnTo>
                  <a:lnTo>
                    <a:pt x="1471168" y="1471168"/>
                  </a:lnTo>
                  <a:lnTo>
                    <a:pt x="0" y="147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8961120" y="5172456"/>
            <a:ext cx="911352" cy="859536"/>
            <a:chOff x="0" y="0"/>
            <a:chExt cx="1215136" cy="11460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15136" cy="1146048"/>
            </a:xfrm>
            <a:custGeom>
              <a:avLst/>
              <a:gdLst/>
              <a:ahLst/>
              <a:cxnLst/>
              <a:rect l="l" t="t" r="r" b="b"/>
              <a:pathLst>
                <a:path w="1215136" h="1146048">
                  <a:moveTo>
                    <a:pt x="0" y="0"/>
                  </a:moveTo>
                  <a:lnTo>
                    <a:pt x="1215136" y="0"/>
                  </a:lnTo>
                  <a:lnTo>
                    <a:pt x="1215136" y="1146048"/>
                  </a:lnTo>
                  <a:lnTo>
                    <a:pt x="0" y="114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CEED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754694" y="556766"/>
            <a:ext cx="3969706" cy="45719"/>
            <a:chOff x="0" y="0"/>
            <a:chExt cx="1298905" cy="381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98951" cy="38099"/>
            </a:xfrm>
            <a:custGeom>
              <a:avLst/>
              <a:gdLst/>
              <a:ahLst/>
              <a:cxnLst/>
              <a:rect l="l" t="t" r="r" b="b"/>
              <a:pathLst>
                <a:path w="1298951" h="38099">
                  <a:moveTo>
                    <a:pt x="0" y="0"/>
                  </a:moveTo>
                  <a:lnTo>
                    <a:pt x="1298951" y="0"/>
                  </a:lnTo>
                  <a:lnTo>
                    <a:pt x="1298951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45" name="Freeform 45"/>
          <p:cNvSpPr/>
          <p:nvPr/>
        </p:nvSpPr>
        <p:spPr>
          <a:xfrm>
            <a:off x="8922029" y="5039906"/>
            <a:ext cx="987047" cy="987047"/>
          </a:xfrm>
          <a:custGeom>
            <a:avLst/>
            <a:gdLst/>
            <a:ahLst/>
            <a:cxnLst/>
            <a:rect l="l" t="t" r="r" b="b"/>
            <a:pathLst>
              <a:path w="987047" h="987047">
                <a:moveTo>
                  <a:pt x="0" y="0"/>
                </a:moveTo>
                <a:lnTo>
                  <a:pt x="987048" y="0"/>
                </a:lnTo>
                <a:lnTo>
                  <a:pt x="987048" y="987047"/>
                </a:lnTo>
                <a:lnTo>
                  <a:pt x="0" y="98704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46"/>
          <p:cNvGrpSpPr/>
          <p:nvPr/>
        </p:nvGrpSpPr>
        <p:grpSpPr>
          <a:xfrm>
            <a:off x="3923347" y="1781442"/>
            <a:ext cx="975350" cy="851144"/>
            <a:chOff x="0" y="0"/>
            <a:chExt cx="1300467" cy="11348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00480" cy="1134872"/>
            </a:xfrm>
            <a:custGeom>
              <a:avLst/>
              <a:gdLst/>
              <a:ahLst/>
              <a:cxnLst/>
              <a:rect l="l" t="t" r="r" b="b"/>
              <a:pathLst>
                <a:path w="1300480" h="1134872">
                  <a:moveTo>
                    <a:pt x="0" y="0"/>
                  </a:moveTo>
                  <a:lnTo>
                    <a:pt x="1300480" y="0"/>
                  </a:lnTo>
                  <a:lnTo>
                    <a:pt x="1300480" y="1134872"/>
                  </a:lnTo>
                  <a:lnTo>
                    <a:pt x="0" y="1134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b="1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7235114" y="5059604"/>
            <a:ext cx="1108510" cy="1108510"/>
            <a:chOff x="0" y="0"/>
            <a:chExt cx="1478013" cy="147801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78026" cy="1478026"/>
            </a:xfrm>
            <a:custGeom>
              <a:avLst/>
              <a:gdLst/>
              <a:ahLst/>
              <a:cxnLst/>
              <a:rect l="l" t="t" r="r" b="b"/>
              <a:pathLst>
                <a:path w="1478026" h="1478026">
                  <a:moveTo>
                    <a:pt x="0" y="0"/>
                  </a:moveTo>
                  <a:lnTo>
                    <a:pt x="1478026" y="0"/>
                  </a:lnTo>
                  <a:lnTo>
                    <a:pt x="1478026" y="1478026"/>
                  </a:lnTo>
                  <a:lnTo>
                    <a:pt x="0" y="1478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3894525" y="3862388"/>
            <a:ext cx="987123" cy="987123"/>
            <a:chOff x="0" y="0"/>
            <a:chExt cx="1316164" cy="131616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16228" cy="1316228"/>
            </a:xfrm>
            <a:custGeom>
              <a:avLst/>
              <a:gdLst/>
              <a:ahLst/>
              <a:cxnLst/>
              <a:rect l="l" t="t" r="r" b="b"/>
              <a:pathLst>
                <a:path w="1316228" h="1316228">
                  <a:moveTo>
                    <a:pt x="0" y="0"/>
                  </a:moveTo>
                  <a:lnTo>
                    <a:pt x="1316228" y="0"/>
                  </a:lnTo>
                  <a:lnTo>
                    <a:pt x="1316228" y="1316228"/>
                  </a:lnTo>
                  <a:lnTo>
                    <a:pt x="0" y="1316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r="4" b="4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7269147" y="2778138"/>
            <a:ext cx="987123" cy="987123"/>
            <a:chOff x="0" y="0"/>
            <a:chExt cx="1316164" cy="13161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16228" cy="1316228"/>
            </a:xfrm>
            <a:custGeom>
              <a:avLst/>
              <a:gdLst/>
              <a:ahLst/>
              <a:cxnLst/>
              <a:rect l="l" t="t" r="r" b="b"/>
              <a:pathLst>
                <a:path w="1316228" h="1316228">
                  <a:moveTo>
                    <a:pt x="0" y="0"/>
                  </a:moveTo>
                  <a:lnTo>
                    <a:pt x="1316228" y="0"/>
                  </a:lnTo>
                  <a:lnTo>
                    <a:pt x="1316228" y="1316228"/>
                  </a:lnTo>
                  <a:lnTo>
                    <a:pt x="0" y="1316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r="4" b="4"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>
            <a:off x="2427036" y="1887631"/>
            <a:ext cx="671951" cy="467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 dirty="0"/>
              <a:t>CEO</a:t>
            </a:r>
            <a:endParaRPr lang="en-US" sz="2800" b="1" spc="5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2124894" y="4079977"/>
            <a:ext cx="127866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/>
              <a:t>Operations Manager</a:t>
            </a:r>
            <a:endParaRPr lang="en-US" sz="2000" b="1" spc="5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74224" y="3025597"/>
            <a:ext cx="911038" cy="456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 spc="5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CTO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050882" y="5229911"/>
            <a:ext cx="272877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/>
              <a:t>Marketing </a:t>
            </a:r>
          </a:p>
          <a:p>
            <a:pPr algn="ctr"/>
            <a:r>
              <a:rPr lang="en-US" sz="2000" b="1" dirty="0"/>
              <a:t>Manager</a:t>
            </a:r>
            <a:endParaRPr lang="en-US" sz="2000" b="1" spc="5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3429000" y="3352838"/>
            <a:ext cx="3934463" cy="244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000" dirty="0">
                <a:latin typeface="Century Gothic Paneuropean" panose="020B0604020202020204" charset="0"/>
                <a:cs typeface="Century Gothic Paneuropean" panose="020B0604020202020204" charset="0"/>
              </a:rPr>
              <a:t>Manages IoT systems, automation, and technical infrastructure</a:t>
            </a:r>
            <a:endParaRPr lang="en-US" sz="1000" dirty="0">
              <a:solidFill>
                <a:srgbClr val="320C77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887374" y="5239436"/>
            <a:ext cx="72542" cy="3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1999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180447" y="5611466"/>
            <a:ext cx="5246599" cy="24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51"/>
              </a:lnSpc>
            </a:pPr>
            <a:r>
              <a:rPr lang="en-US" sz="1000" dirty="0">
                <a:latin typeface="Century Gothic Paneuropean" panose="020B0604020202020204" charset="0"/>
                <a:cs typeface="Century Gothic Paneuropean" panose="020B0604020202020204" charset="0"/>
              </a:rPr>
              <a:t>Responsible for branding, customer acquisition, partnerships, and market expansion.</a:t>
            </a:r>
            <a:endParaRPr lang="en-US" sz="1000" dirty="0">
              <a:solidFill>
                <a:srgbClr val="320C77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4804413" y="4452647"/>
            <a:ext cx="5689959" cy="244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000" dirty="0">
                <a:latin typeface="Century Gothic Paneuropean" panose="020B0604020202020204" charset="0"/>
                <a:cs typeface="Century Gothic Paneuropean" panose="020B0604020202020204" charset="0"/>
              </a:rPr>
              <a:t>Handles rooftop farming operations, logistics, supplier coordination, and product delivery.</a:t>
            </a:r>
            <a:endParaRPr lang="en-US" sz="1000" dirty="0">
              <a:solidFill>
                <a:srgbClr val="320D77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4939265" y="2230774"/>
            <a:ext cx="5195335" cy="244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000" dirty="0">
                <a:latin typeface="Century Gothic Paneuropean" panose="020B0604020202020204" charset="0"/>
                <a:cs typeface="Century Gothic Paneuropean" panose="020B0604020202020204" charset="0"/>
              </a:rPr>
              <a:t>Leads overall strategy, business planning, and smart rooftop farming integration.</a:t>
            </a:r>
            <a:endParaRPr lang="en-US" sz="1000" dirty="0">
              <a:solidFill>
                <a:srgbClr val="320D77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939255" y="1828343"/>
            <a:ext cx="2488721" cy="335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Kamrul Hasan Siam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865513" y="4065575"/>
            <a:ext cx="2149716" cy="33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 err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Nazmuz</a:t>
            </a: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999" dirty="0" err="1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Saif</a:t>
            </a:r>
            <a:endParaRPr lang="en-US" sz="1999" dirty="0">
              <a:solidFill>
                <a:srgbClr val="00206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5339563" y="2962199"/>
            <a:ext cx="1988429" cy="33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Momin Ali Rifat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741945" y="5229911"/>
            <a:ext cx="2602373" cy="335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Tahsin Rahman Khan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80812" y="2696"/>
            <a:ext cx="5519442" cy="55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spc="3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Management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-34088" y="-580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00" b="-9000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1" name="Group 6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  <a:solidFill>
            <a:schemeClr val="accent4">
              <a:lumMod val="75000"/>
            </a:schemeClr>
          </a:solidFill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63" name="Group 63"/>
          <p:cNvGrpSpPr/>
          <p:nvPr/>
        </p:nvGrpSpPr>
        <p:grpSpPr>
          <a:xfrm>
            <a:off x="805747" y="541242"/>
            <a:ext cx="3936817" cy="61244"/>
            <a:chOff x="0" y="0"/>
            <a:chExt cx="1777428" cy="38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777368" cy="38099"/>
            </a:xfrm>
            <a:custGeom>
              <a:avLst/>
              <a:gdLst/>
              <a:ahLst/>
              <a:cxnLst/>
              <a:rect l="l" t="t" r="r" b="b"/>
              <a:pathLst>
                <a:path w="1777368" h="38099">
                  <a:moveTo>
                    <a:pt x="0" y="0"/>
                  </a:moveTo>
                  <a:lnTo>
                    <a:pt x="1777368" y="0"/>
                  </a:lnTo>
                  <a:lnTo>
                    <a:pt x="1777368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225173" y="5442604"/>
            <a:ext cx="58036" cy="30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47426" y="5506993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63767" y="5534425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80811" y="2696"/>
            <a:ext cx="4095989" cy="538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Financial Projections </a:t>
            </a:r>
          </a:p>
        </p:txBody>
      </p:sp>
      <p:sp>
        <p:nvSpPr>
          <p:cNvPr id="13" name="TextBox 87">
            <a:extLst>
              <a:ext uri="{FF2B5EF4-FFF2-40B4-BE49-F238E27FC236}">
                <a16:creationId xmlns:a16="http://schemas.microsoft.com/office/drawing/2014/main" id="{3FC92344-86AA-461B-BA5E-1E8D053F300F}"/>
              </a:ext>
            </a:extLst>
          </p:cNvPr>
          <p:cNvSpPr txBox="1"/>
          <p:nvPr/>
        </p:nvSpPr>
        <p:spPr>
          <a:xfrm>
            <a:off x="197560" y="1113082"/>
            <a:ext cx="5943600" cy="6068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Initial Investment &amp; Cost Structure :</a:t>
            </a: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Rooftop Partnership Model</a:t>
            </a:r>
            <a:endParaRPr lang="en-US" sz="1600" b="1" dirty="0"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Full farming setup cost will be managed by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FarmEX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Rooftop owners will provide rooftop space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Profit-sharing model: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Rooftop Owner: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 15% – 20% profit share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FarmEX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 Remaining operational profit</a:t>
            </a:r>
            <a:endParaRPr lang="en-US" sz="1600" dirty="0">
              <a:solidFill>
                <a:srgbClr val="000000"/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Initial Setup Cost</a:t>
            </a:r>
            <a:endParaRPr lang="en-US" sz="1600" b="1" dirty="0"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 fontAlgn="base">
              <a:spcBef>
                <a:spcPts val="120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Smart Rooftop Farming Setup →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</a:rPr>
              <a:t>৳4,00,000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IoT system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Irrigation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Solar support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Aquaponics infrastructure</a:t>
            </a:r>
          </a:p>
          <a:p>
            <a:pPr rtl="0" fontAlgn="base">
              <a:spcBef>
                <a:spcPts val="0"/>
              </a:spcBef>
              <a:spcAft>
                <a:spcPts val="120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Seeds &amp; Fish Cost (First 4 Months) →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</a:rPr>
              <a:t>৳60,000×3=৳1,80,000</a:t>
            </a:r>
            <a:endParaRPr lang="en-US" sz="1600" dirty="0">
              <a:solidFill>
                <a:srgbClr val="000000"/>
              </a:solidFill>
              <a:latin typeface="Century Gothic Paneuropean" panose="020B0604020202020204" charset="0"/>
            </a:endParaRPr>
          </a:p>
          <a:p>
            <a:pPr rtl="0" fontAlgn="base">
              <a:spcBef>
                <a:spcPts val="0"/>
              </a:spcBef>
              <a:spcAft>
                <a:spcPts val="1200"/>
              </a:spcAft>
            </a:pP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Approx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 Total Cost →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</a:rPr>
              <a:t>৳6,00,000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lvl="1" rtl="0" fontAlgn="base">
              <a:spcBef>
                <a:spcPts val="0"/>
              </a:spcBef>
              <a:spcAft>
                <a:spcPts val="1200"/>
              </a:spcAft>
            </a:pPr>
            <a:endParaRPr lang="en-US" sz="1200" dirty="0">
              <a:solidFill>
                <a:srgbClr val="000000"/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lvl="1" rtl="0" fontAlgn="base">
              <a:spcBef>
                <a:spcPts val="0"/>
              </a:spcBef>
              <a:spcAft>
                <a:spcPts val="1200"/>
              </a:spcAft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</a:pPr>
            <a:endParaRPr lang="en-US" sz="1200" b="1" dirty="0"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  <p:sp>
        <p:nvSpPr>
          <p:cNvPr id="32" name="Freeform 8">
            <a:extLst>
              <a:ext uri="{FF2B5EF4-FFF2-40B4-BE49-F238E27FC236}">
                <a16:creationId xmlns:a16="http://schemas.microsoft.com/office/drawing/2014/main" id="{10FF2929-22CE-49E2-A597-69951EDA4634}"/>
              </a:ext>
            </a:extLst>
          </p:cNvPr>
          <p:cNvSpPr/>
          <p:nvPr/>
        </p:nvSpPr>
        <p:spPr>
          <a:xfrm rot="5400000">
            <a:off x="3139624" y="3574183"/>
            <a:ext cx="5715001" cy="90635"/>
          </a:xfrm>
          <a:custGeom>
            <a:avLst/>
            <a:gdLst/>
            <a:ahLst/>
            <a:cxnLst/>
            <a:rect l="l" t="t" r="r" b="b"/>
            <a:pathLst>
              <a:path w="2536612" h="210445">
                <a:moveTo>
                  <a:pt x="0" y="0"/>
                </a:moveTo>
                <a:lnTo>
                  <a:pt x="2536612" y="0"/>
                </a:lnTo>
                <a:lnTo>
                  <a:pt x="2536612" y="210445"/>
                </a:lnTo>
                <a:lnTo>
                  <a:pt x="0" y="210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87">
            <a:extLst>
              <a:ext uri="{FF2B5EF4-FFF2-40B4-BE49-F238E27FC236}">
                <a16:creationId xmlns:a16="http://schemas.microsoft.com/office/drawing/2014/main" id="{FCED1C0C-836E-4A08-A3E2-74ADF491D008}"/>
              </a:ext>
            </a:extLst>
          </p:cNvPr>
          <p:cNvSpPr txBox="1"/>
          <p:nvPr/>
        </p:nvSpPr>
        <p:spPr>
          <a:xfrm>
            <a:off x="6218977" y="1113082"/>
            <a:ext cx="5943600" cy="489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Fish Production Revenue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600 kg yearly ≈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৳3,60,000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Vegetable Production Revenue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≈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৳40,000 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Total Annual Revenue per Unit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৳4,00,000  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Annual Operational Cost (after setup)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৳80,000 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Annual Operating Profit per Unit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৳3,20,000  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r>
              <a:rPr lang="en-US" sz="1600" b="1" dirty="0">
                <a:latin typeface="Century Gothic Paneuropean" panose="020B0604020202020204" charset="0"/>
                <a:cs typeface="Century Gothic Paneuropean" panose="020B0604020202020204" charset="0"/>
              </a:rPr>
              <a:t>Break-Even Time</a:t>
            </a:r>
          </a:p>
          <a:p>
            <a:r>
              <a:rPr lang="en-US" sz="1600" b="1" dirty="0">
                <a:latin typeface="Century Gothic Paneuropean" panose="020B0604020202020204" charset="0"/>
                <a:cs typeface="Century Gothic Paneuropean" panose="020B0604020202020204" charset="0"/>
              </a:rPr>
              <a:t>BEP</a:t>
            </a:r>
            <a:r>
              <a:rPr lang="en-US" sz="1600" dirty="0">
                <a:latin typeface="Century Gothic Paneuropean" panose="020B0604020202020204" charset="0"/>
                <a:cs typeface="Century Gothic Paneuropean" panose="020B0604020202020204" charset="0"/>
              </a:rPr>
              <a:t> = Initial Investment / Annual Profit </a:t>
            </a:r>
          </a:p>
          <a:p>
            <a:r>
              <a:rPr lang="en-US" sz="1600" b="1" dirty="0">
                <a:latin typeface="Century Gothic Paneuropean" panose="020B0604020202020204" charset="0"/>
                <a:cs typeface="Century Gothic Paneuropean" panose="020B0604020202020204" charset="0"/>
              </a:rPr>
              <a:t>BEP </a:t>
            </a:r>
            <a:r>
              <a:rPr lang="en-US" sz="1600" dirty="0">
                <a:latin typeface="Century Gothic Paneuropean" panose="020B0604020202020204" charset="0"/>
                <a:cs typeface="Century Gothic Paneuropean" panose="020B0604020202020204" charset="0"/>
              </a:rPr>
              <a:t>= 6,00,000 / 3,20,000= 1.875 years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Monthly Income per Setup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≈ </a:t>
            </a:r>
            <a:r>
              <a:rPr lang="as-IN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৳30,000  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Technology Service Revenue 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→ 15% profit margin from setup sales  </a:t>
            </a:r>
          </a:p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👉 </a:t>
            </a:r>
            <a:r>
              <a:rPr lang="en-US" sz="1600" i="0" u="none" strike="noStrike" dirty="0" err="1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FarmEX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 achieves break-even in Year 2 and generates stable recurring profit from Year 2 onward</a:t>
            </a:r>
            <a:endParaRPr lang="en-US" sz="1200" dirty="0"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962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  <p:txBody>
            <a:bodyPr/>
            <a:lstStyle/>
            <a:p>
              <a:endParaRPr 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42" name="Freeform 42"/>
          <p:cNvSpPr/>
          <p:nvPr/>
        </p:nvSpPr>
        <p:spPr>
          <a:xfrm>
            <a:off x="1494882" y="1363542"/>
            <a:ext cx="834237" cy="1181540"/>
          </a:xfrm>
          <a:custGeom>
            <a:avLst/>
            <a:gdLst/>
            <a:ahLst/>
            <a:cxnLst/>
            <a:rect l="l" t="t" r="r" b="b"/>
            <a:pathLst>
              <a:path w="888702" h="1238412">
                <a:moveTo>
                  <a:pt x="0" y="0"/>
                </a:moveTo>
                <a:lnTo>
                  <a:pt x="888702" y="0"/>
                </a:lnTo>
                <a:lnTo>
                  <a:pt x="888702" y="1238412"/>
                </a:lnTo>
                <a:lnTo>
                  <a:pt x="0" y="123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31166" y="2558369"/>
            <a:ext cx="761667" cy="851525"/>
          </a:xfrm>
          <a:custGeom>
            <a:avLst/>
            <a:gdLst/>
            <a:ahLst/>
            <a:cxnLst/>
            <a:rect l="l" t="t" r="r" b="b"/>
            <a:pathLst>
              <a:path w="761667" h="851525">
                <a:moveTo>
                  <a:pt x="0" y="0"/>
                </a:moveTo>
                <a:lnTo>
                  <a:pt x="761666" y="0"/>
                </a:lnTo>
                <a:lnTo>
                  <a:pt x="761666" y="851525"/>
                </a:lnTo>
                <a:lnTo>
                  <a:pt x="0" y="851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1577783" y="2652724"/>
            <a:ext cx="670560" cy="670560"/>
            <a:chOff x="0" y="0"/>
            <a:chExt cx="894080" cy="8940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94080" cy="894080"/>
            </a:xfrm>
            <a:custGeom>
              <a:avLst/>
              <a:gdLst/>
              <a:ahLst/>
              <a:cxnLst/>
              <a:rect l="l" t="t" r="r" b="b"/>
              <a:pathLst>
                <a:path w="894080" h="894080">
                  <a:moveTo>
                    <a:pt x="0" y="0"/>
                  </a:moveTo>
                  <a:lnTo>
                    <a:pt x="894080" y="0"/>
                  </a:lnTo>
                  <a:lnTo>
                    <a:pt x="894080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53" name="Freeform 53"/>
          <p:cNvSpPr/>
          <p:nvPr/>
        </p:nvSpPr>
        <p:spPr>
          <a:xfrm>
            <a:off x="1492579" y="3582906"/>
            <a:ext cx="888663" cy="978522"/>
          </a:xfrm>
          <a:custGeom>
            <a:avLst/>
            <a:gdLst/>
            <a:ahLst/>
            <a:cxnLst/>
            <a:rect l="l" t="t" r="r" b="b"/>
            <a:pathLst>
              <a:path w="888663" h="978522">
                <a:moveTo>
                  <a:pt x="0" y="0"/>
                </a:moveTo>
                <a:lnTo>
                  <a:pt x="888664" y="0"/>
                </a:lnTo>
                <a:lnTo>
                  <a:pt x="888664" y="978523"/>
                </a:lnTo>
                <a:lnTo>
                  <a:pt x="0" y="978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587322" y="4711432"/>
            <a:ext cx="761667" cy="851525"/>
          </a:xfrm>
          <a:custGeom>
            <a:avLst/>
            <a:gdLst/>
            <a:ahLst/>
            <a:cxnLst/>
            <a:rect l="l" t="t" r="r" b="b"/>
            <a:pathLst>
              <a:path w="761667" h="851525">
                <a:moveTo>
                  <a:pt x="0" y="0"/>
                </a:moveTo>
                <a:lnTo>
                  <a:pt x="761666" y="0"/>
                </a:lnTo>
                <a:lnTo>
                  <a:pt x="761666" y="851525"/>
                </a:lnTo>
                <a:lnTo>
                  <a:pt x="0" y="8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1756711" y="4896096"/>
            <a:ext cx="432816" cy="432816"/>
            <a:chOff x="0" y="0"/>
            <a:chExt cx="577088" cy="5770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77088" cy="577088"/>
            </a:xfrm>
            <a:custGeom>
              <a:avLst/>
              <a:gdLst/>
              <a:ahLst/>
              <a:cxnLst/>
              <a:rect l="l" t="t" r="r" b="b"/>
              <a:pathLst>
                <a:path w="577088" h="577088">
                  <a:moveTo>
                    <a:pt x="0" y="0"/>
                  </a:moveTo>
                  <a:lnTo>
                    <a:pt x="577088" y="0"/>
                  </a:lnTo>
                  <a:lnTo>
                    <a:pt x="577088" y="577088"/>
                  </a:lnTo>
                  <a:lnTo>
                    <a:pt x="0" y="577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597285" y="1524205"/>
            <a:ext cx="627888" cy="627888"/>
            <a:chOff x="0" y="0"/>
            <a:chExt cx="837184" cy="83718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37184" cy="837184"/>
            </a:xfrm>
            <a:custGeom>
              <a:avLst/>
              <a:gdLst/>
              <a:ahLst/>
              <a:cxnLst/>
              <a:rect l="l" t="t" r="r" b="b"/>
              <a:pathLst>
                <a:path w="837184" h="837184">
                  <a:moveTo>
                    <a:pt x="0" y="0"/>
                  </a:moveTo>
                  <a:lnTo>
                    <a:pt x="837184" y="0"/>
                  </a:lnTo>
                  <a:lnTo>
                    <a:pt x="837184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CEED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05748" y="556766"/>
            <a:ext cx="2699452" cy="45719"/>
            <a:chOff x="0" y="0"/>
            <a:chExt cx="1777428" cy="38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777368" cy="38099"/>
            </a:xfrm>
            <a:custGeom>
              <a:avLst/>
              <a:gdLst/>
              <a:ahLst/>
              <a:cxnLst/>
              <a:rect l="l" t="t" r="r" b="b"/>
              <a:pathLst>
                <a:path w="1777368" h="38099">
                  <a:moveTo>
                    <a:pt x="0" y="0"/>
                  </a:moveTo>
                  <a:lnTo>
                    <a:pt x="1777368" y="0"/>
                  </a:lnTo>
                  <a:lnTo>
                    <a:pt x="1777368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225173" y="5442604"/>
            <a:ext cx="58036" cy="30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8335" y="5712962"/>
            <a:ext cx="940784" cy="25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3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47426" y="5506993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63767" y="5534425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441374" y="1735557"/>
            <a:ext cx="7011496" cy="213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FarmEX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is currently in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pre-launch / development stage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780812" y="2696"/>
            <a:ext cx="2935062" cy="55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Current Status</a:t>
            </a:r>
          </a:p>
        </p:txBody>
      </p:sp>
      <p:sp>
        <p:nvSpPr>
          <p:cNvPr id="90" name="TextBox 75">
            <a:extLst>
              <a:ext uri="{FF2B5EF4-FFF2-40B4-BE49-F238E27FC236}">
                <a16:creationId xmlns:a16="http://schemas.microsoft.com/office/drawing/2014/main" id="{1455887C-C9F6-4E19-AED3-765104DCD74F}"/>
              </a:ext>
            </a:extLst>
          </p:cNvPr>
          <p:cNvSpPr txBox="1"/>
          <p:nvPr/>
        </p:nvSpPr>
        <p:spPr>
          <a:xfrm>
            <a:off x="2441374" y="2781128"/>
            <a:ext cx="8531426" cy="418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Core business model, rooftop farming system, and financial plan have been fully designed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91" name="TextBox 75">
            <a:extLst>
              <a:ext uri="{FF2B5EF4-FFF2-40B4-BE49-F238E27FC236}">
                <a16:creationId xmlns:a16="http://schemas.microsoft.com/office/drawing/2014/main" id="{65AAB8C6-E40B-4D20-A5C2-EBC222174220}"/>
              </a:ext>
            </a:extLst>
          </p:cNvPr>
          <p:cNvSpPr txBox="1"/>
          <p:nvPr/>
        </p:nvSpPr>
        <p:spPr>
          <a:xfrm>
            <a:off x="2441374" y="3965106"/>
            <a:ext cx="7236026" cy="213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Market research and competitor analysis have been completed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92" name="TextBox 75">
            <a:extLst>
              <a:ext uri="{FF2B5EF4-FFF2-40B4-BE49-F238E27FC236}">
                <a16:creationId xmlns:a16="http://schemas.microsoft.com/office/drawing/2014/main" id="{4105EA8D-06F6-41BC-8FA9-79D3DE8E0840}"/>
              </a:ext>
            </a:extLst>
          </p:cNvPr>
          <p:cNvSpPr txBox="1"/>
          <p:nvPr/>
        </p:nvSpPr>
        <p:spPr>
          <a:xfrm>
            <a:off x="2441374" y="5030498"/>
            <a:ext cx="8988626" cy="213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Prototype planning for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smart rooftop farming + aquaponics system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is in progress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  <p:txBody>
            <a:bodyPr/>
            <a:lstStyle/>
            <a:p>
              <a:endParaRPr 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CEED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05748" y="554528"/>
            <a:ext cx="3309052" cy="47957"/>
            <a:chOff x="0" y="0"/>
            <a:chExt cx="1777428" cy="38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777368" cy="38099"/>
            </a:xfrm>
            <a:custGeom>
              <a:avLst/>
              <a:gdLst/>
              <a:ahLst/>
              <a:cxnLst/>
              <a:rect l="l" t="t" r="r" b="b"/>
              <a:pathLst>
                <a:path w="1777368" h="38099">
                  <a:moveTo>
                    <a:pt x="0" y="0"/>
                  </a:moveTo>
                  <a:lnTo>
                    <a:pt x="1777368" y="0"/>
                  </a:lnTo>
                  <a:lnTo>
                    <a:pt x="1777368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225173" y="5442604"/>
            <a:ext cx="58036" cy="30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8335" y="5712962"/>
            <a:ext cx="940784" cy="25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3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47426" y="5506993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63767" y="5534425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752600" y="1692089"/>
            <a:ext cx="9829800" cy="367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Total financing required: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৳6,00,000 (per rooftop unit setup) </a:t>
            </a:r>
          </a:p>
          <a:p>
            <a:pPr algn="l">
              <a:lnSpc>
                <a:spcPts val="1608"/>
              </a:lnSpc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algn="l">
              <a:lnSpc>
                <a:spcPts val="1608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Use of Funds: 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Smart Rooftop Farming Setup (IoT, irrigation, aquaponics) → ৳4,00,000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Seeds &amp; Fish Stock (1 Year) → ৳1,80,000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Installation, setup support &amp; contingency → ৳20,000 </a:t>
            </a:r>
          </a:p>
          <a:p>
            <a:pPr algn="l">
              <a:lnSpc>
                <a:spcPts val="1608"/>
              </a:lnSpc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algn="l">
              <a:lnSpc>
                <a:spcPts val="1608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Funding Purpose: </a:t>
            </a:r>
          </a:p>
          <a:p>
            <a:pPr algn="l">
              <a:lnSpc>
                <a:spcPts val="1608"/>
              </a:lnSpc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To build and deploy the first operational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FarmEX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 rooftop farming unit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To establish a scalable model for multiple rooftop expansions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To support initial production until break-even is achieved in Year 2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780812" y="2696"/>
            <a:ext cx="3791188" cy="538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Financing Sought</a:t>
            </a:r>
          </a:p>
        </p:txBody>
      </p:sp>
    </p:spTree>
    <p:extLst>
      <p:ext uri="{BB962C8B-B14F-4D97-AF65-F5344CB8AC3E}">
        <p14:creationId xmlns:p14="http://schemas.microsoft.com/office/powerpoint/2010/main" val="390260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  <p:txBody>
            <a:bodyPr/>
            <a:lstStyle/>
            <a:p>
              <a:endParaRPr 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CEED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05748" y="554528"/>
            <a:ext cx="3309052" cy="47957"/>
            <a:chOff x="0" y="0"/>
            <a:chExt cx="1777428" cy="38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777368" cy="38099"/>
            </a:xfrm>
            <a:custGeom>
              <a:avLst/>
              <a:gdLst/>
              <a:ahLst/>
              <a:cxnLst/>
              <a:rect l="l" t="t" r="r" b="b"/>
              <a:pathLst>
                <a:path w="1777368" h="38099">
                  <a:moveTo>
                    <a:pt x="0" y="0"/>
                  </a:moveTo>
                  <a:lnTo>
                    <a:pt x="1777368" y="0"/>
                  </a:lnTo>
                  <a:lnTo>
                    <a:pt x="1777368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225173" y="5442604"/>
            <a:ext cx="58036" cy="30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8335" y="5712962"/>
            <a:ext cx="940784" cy="25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3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47426" y="5506993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63767" y="5534425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80812" y="2696"/>
            <a:ext cx="3791188" cy="538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Financing Sought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C1F056-3A0F-4F63-BADA-E3EEEDEBC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76" y="882546"/>
            <a:ext cx="9906000" cy="538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1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  <p:txBody>
            <a:bodyPr/>
            <a:lstStyle/>
            <a:p>
              <a:endParaRPr lang="en-US" sz="1000" dirty="0">
                <a:solidFill>
                  <a:schemeClr val="accent1">
                    <a:lumMod val="75000"/>
                  </a:schemeClr>
                </a:solidFill>
                <a:latin typeface="Century Gothic Paneuropean" panose="020B0604020202020204" charset="0"/>
                <a:cs typeface="Century Gothic Paneuropean" panose="020B0604020202020204" charset="0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46853" y="220580"/>
            <a:ext cx="202149" cy="202482"/>
            <a:chOff x="0" y="0"/>
            <a:chExt cx="202146" cy="20248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2180" cy="202443"/>
            </a:xfrm>
            <a:custGeom>
              <a:avLst/>
              <a:gdLst/>
              <a:ahLst/>
              <a:cxnLst/>
              <a:rect l="l" t="t" r="r" b="b"/>
              <a:pathLst>
                <a:path w="202180" h="202443">
                  <a:moveTo>
                    <a:pt x="0" y="202443"/>
                  </a:moveTo>
                  <a:lnTo>
                    <a:pt x="202180" y="202443"/>
                  </a:lnTo>
                  <a:lnTo>
                    <a:pt x="202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CEED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05748" y="541242"/>
            <a:ext cx="2394652" cy="61244"/>
            <a:chOff x="0" y="0"/>
            <a:chExt cx="1777428" cy="38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777368" cy="38099"/>
            </a:xfrm>
            <a:custGeom>
              <a:avLst/>
              <a:gdLst/>
              <a:ahLst/>
              <a:cxnLst/>
              <a:rect l="l" t="t" r="r" b="b"/>
              <a:pathLst>
                <a:path w="1777368" h="38099">
                  <a:moveTo>
                    <a:pt x="0" y="0"/>
                  </a:moveTo>
                  <a:lnTo>
                    <a:pt x="1777368" y="0"/>
                  </a:lnTo>
                  <a:lnTo>
                    <a:pt x="1777368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ED712E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225173" y="5442604"/>
            <a:ext cx="58036" cy="30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8335" y="5712962"/>
            <a:ext cx="940784" cy="25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3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47426" y="5506993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63767" y="5534425"/>
            <a:ext cx="58036" cy="29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80812" y="2696"/>
            <a:ext cx="3791188" cy="538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Value Chain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156C95-E0AC-4644-8765-CAFB75903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42811"/>
              </p:ext>
            </p:extLst>
          </p:nvPr>
        </p:nvGraphicFramePr>
        <p:xfrm>
          <a:off x="346853" y="899281"/>
          <a:ext cx="11540347" cy="568650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10251">
                  <a:extLst>
                    <a:ext uri="{9D8B030D-6E8A-4147-A177-3AD203B41FA5}">
                      <a16:colId xmlns:a16="http://schemas.microsoft.com/office/drawing/2014/main" val="4128900578"/>
                    </a:ext>
                  </a:extLst>
                </a:gridCol>
                <a:gridCol w="2289967">
                  <a:extLst>
                    <a:ext uri="{9D8B030D-6E8A-4147-A177-3AD203B41FA5}">
                      <a16:colId xmlns:a16="http://schemas.microsoft.com/office/drawing/2014/main" val="1011370855"/>
                    </a:ext>
                  </a:extLst>
                </a:gridCol>
                <a:gridCol w="1810251">
                  <a:extLst>
                    <a:ext uri="{9D8B030D-6E8A-4147-A177-3AD203B41FA5}">
                      <a16:colId xmlns:a16="http://schemas.microsoft.com/office/drawing/2014/main" val="1450202337"/>
                    </a:ext>
                  </a:extLst>
                </a:gridCol>
                <a:gridCol w="1792147">
                  <a:extLst>
                    <a:ext uri="{9D8B030D-6E8A-4147-A177-3AD203B41FA5}">
                      <a16:colId xmlns:a16="http://schemas.microsoft.com/office/drawing/2014/main" val="3040668725"/>
                    </a:ext>
                  </a:extLst>
                </a:gridCol>
                <a:gridCol w="2045584">
                  <a:extLst>
                    <a:ext uri="{9D8B030D-6E8A-4147-A177-3AD203B41FA5}">
                      <a16:colId xmlns:a16="http://schemas.microsoft.com/office/drawing/2014/main" val="2716203133"/>
                    </a:ext>
                  </a:extLst>
                </a:gridCol>
                <a:gridCol w="1792147">
                  <a:extLst>
                    <a:ext uri="{9D8B030D-6E8A-4147-A177-3AD203B41FA5}">
                      <a16:colId xmlns:a16="http://schemas.microsoft.com/office/drawing/2014/main" val="3906884620"/>
                    </a:ext>
                  </a:extLst>
                </a:gridCol>
              </a:tblGrid>
              <a:tr h="742471">
                <a:tc row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Core</a:t>
                      </a:r>
                      <a:endParaRPr lang="en-US" sz="15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Activities</a:t>
                      </a:r>
                      <a:endParaRPr lang="en-US" sz="15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Inbound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 Logistics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Operations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Outbound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 Logistics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Marketing 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and Sales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After Sales 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Services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extLst>
                  <a:ext uri="{0D108BD9-81ED-4DB2-BD59-A6C34878D82A}">
                    <a16:rowId xmlns:a16="http://schemas.microsoft.com/office/drawing/2014/main" val="3543423834"/>
                  </a:ext>
                </a:extLst>
              </a:tr>
              <a:tr h="17550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Rooftop space partnerships</a:t>
                      </a:r>
                    </a:p>
                    <a:p>
                      <a:pPr marL="171450" indent="-171450" algn="just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organic vegetable procurement</a:t>
                      </a:r>
                    </a:p>
                    <a:p>
                      <a:pPr marL="171450" indent="-171450" algn="just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Fish supply (aquaponics system)</a:t>
                      </a:r>
                    </a:p>
                    <a:p>
                      <a:pPr marL="171450" indent="-171450" algn="just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Nutrients &amp; bio-fertilizers</a:t>
                      </a:r>
                    </a:p>
                    <a:p>
                      <a:pPr marL="171450" indent="-171450" algn="just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IoT sensors &amp; smart farming equipment procurement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050" dirty="0">
                        <a:effectLst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Rooftop aquaponics farming setup</a:t>
                      </a: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IoT-based monitoring Automated water circulation system</a:t>
                      </a: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Vegetable cultivation &amp; fish farming (integrated system)</a:t>
                      </a: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Growth tracking &amp; data</a:t>
                      </a:r>
                      <a:endParaRPr lang="en-US" sz="10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buFont typeface="Wingdings" panose="05000000000000000000" pitchFamily="2" charset="2"/>
                        <a:buNone/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ea typeface="+mn-ea"/>
                        <a:cs typeface="Century Gothic Paneuropean" panose="020B0604020202020204" charset="0"/>
                      </a:endParaRP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Fresh vegetable &amp; fish packaging</a:t>
                      </a: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Home delivery system (B2C)</a:t>
                      </a: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Supply to restaurants &amp; local retailers (B2B)</a:t>
                      </a:r>
                    </a:p>
                    <a:p>
                      <a:pPr marL="171450" indent="-171450" algn="l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Minimal cold-chain logistics (fast delivery focus)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marL="0" indent="0" rtl="0" fontAlgn="base">
                        <a:buFont typeface="Wingdings" panose="05000000000000000000" pitchFamily="2" charset="2"/>
                        <a:buNone/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ea typeface="+mn-ea"/>
                        <a:cs typeface="Century Gothic Paneuropean" panose="020B0604020202020204" charset="0"/>
                      </a:endParaRP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Social media marketing (Facebook, Instagram, </a:t>
                      </a:r>
                      <a:r>
                        <a:rPr 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TikTok</a:t>
                      </a: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)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SEO &amp; website-based awareness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Referral &amp; community farming campaigns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Partnerships with restaurants &amp; healthy food brands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Educational content on sustainable farming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Customer feedback &amp; review system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Subscription management &amp; customization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Complaint handling &amp; replacement support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Loyalty programs &amp; reward points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Guidance/support for rooftop farming setup clients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12909" marR="12909" marT="12909" marB="38728" anchor="ctr"/>
                </a:tc>
                <a:extLst>
                  <a:ext uri="{0D108BD9-81ED-4DB2-BD59-A6C34878D82A}">
                    <a16:rowId xmlns:a16="http://schemas.microsoft.com/office/drawing/2014/main" val="942675789"/>
                  </a:ext>
                </a:extLst>
              </a:tr>
              <a:tr h="592209">
                <a:tc row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Support</a:t>
                      </a:r>
                      <a:endParaRPr lang="en-US" sz="15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Activities</a:t>
                      </a:r>
                      <a:endParaRPr lang="en-US" sz="15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Infrastructure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 gridSpan="4">
                  <a:txBody>
                    <a:bodyPr/>
                    <a:lstStyle/>
                    <a:p>
                      <a:pPr marL="171450" lvl="0" indent="-171450" rtl="0" fontAlgn="base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Legal &amp; compliance framework (food safety, urban farming)</a:t>
                      </a:r>
                    </a:p>
                    <a:p>
                      <a:pPr marL="171450" lvl="0" indent="-171450" rtl="0" fontAlgn="base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Business administration &amp; finance system</a:t>
                      </a:r>
                    </a:p>
                    <a:p>
                      <a:pPr marL="285750" lvl="0" indent="-28575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US" sz="15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16518"/>
                  </a:ext>
                </a:extLst>
              </a:tr>
              <a:tr h="5922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HRM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 gridSpan="4">
                  <a:txBody>
                    <a:bodyPr/>
                    <a:lstStyle/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Agronomists &amp; aquaponics specialists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IoT engineers &amp; software developers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Farm technicians &amp; maintenance staff</a:t>
                      </a:r>
                    </a:p>
                    <a:p>
                      <a:pPr marL="0" indent="0"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 </a:t>
                      </a:r>
                      <a:endParaRPr lang="en-US" sz="1000" dirty="0"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5778"/>
                  </a:ext>
                </a:extLst>
              </a:tr>
              <a:tr h="742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Technology Development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 gridSpan="4">
                  <a:txBody>
                    <a:bodyPr/>
                    <a:lstStyle/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IoT-based smart farming system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Mobile app for monitoring &amp; subscription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Data analytics for crop/fish optimization</a:t>
                      </a:r>
                    </a:p>
                    <a:p>
                      <a:pPr marL="0" indent="0"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12909" marR="12909" marT="12909" marB="38728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89059"/>
                  </a:ext>
                </a:extLst>
              </a:tr>
              <a:tr h="742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Resource Procurement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L="12909" marR="12909" marT="12909" marB="38728" anchor="ctr"/>
                </a:tc>
                <a:tc gridSpan="4">
                  <a:txBody>
                    <a:bodyPr/>
                    <a:lstStyle/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Organic seeds &amp; fish fry suppliers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IoT hardware vendors (sensors, controllers)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Farming equipment &amp; materials</a:t>
                      </a:r>
                    </a:p>
                    <a:p>
                      <a:pPr marL="171450" indent="-171450" rtl="0" fontAlgn="base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 Paneuropean" panose="020B0604020202020204" charset="0"/>
                          <a:ea typeface="+mn-ea"/>
                          <a:cs typeface="Century Gothic Paneuropean" panose="020B0604020202020204" charset="0"/>
                        </a:rPr>
                        <a:t>Packaging materials (eco-friendly)</a:t>
                      </a:r>
                    </a:p>
                    <a:p>
                      <a:pPr marL="171450" indent="-171450"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US" sz="1000" dirty="0">
                        <a:effectLst/>
                      </a:endParaRPr>
                    </a:p>
                  </a:txBody>
                  <a:tcPr marL="12909" marR="12909" marT="12909" marB="38728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60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075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00" b="-900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666488" y="1286256"/>
            <a:ext cx="2859024" cy="2859024"/>
            <a:chOff x="0" y="0"/>
            <a:chExt cx="3812032" cy="38120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2032" cy="3812032"/>
            </a:xfrm>
            <a:custGeom>
              <a:avLst/>
              <a:gdLst/>
              <a:ahLst/>
              <a:cxnLst/>
              <a:rect l="l" t="t" r="r" b="b"/>
              <a:pathLst>
                <a:path w="3812032" h="3812032">
                  <a:moveTo>
                    <a:pt x="0" y="0"/>
                  </a:moveTo>
                  <a:lnTo>
                    <a:pt x="3812032" y="0"/>
                  </a:lnTo>
                  <a:lnTo>
                    <a:pt x="3812032" y="3812032"/>
                  </a:lnTo>
                  <a:lnTo>
                    <a:pt x="0" y="381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276725" y="4407103"/>
            <a:ext cx="3711578" cy="69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7999">
                <a:solidFill>
                  <a:srgbClr val="00206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Thanks!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23672" y="4992767"/>
            <a:ext cx="2030416" cy="5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1999">
                <a:solidFill>
                  <a:srgbClr val="D7536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Any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1033</Words>
  <Application>Microsoft Office PowerPoint</Application>
  <PresentationFormat>Widescreen</PresentationFormat>
  <Paragraphs>313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Wingdings</vt:lpstr>
      <vt:lpstr>Century Gothic Paneuropean</vt:lpstr>
      <vt:lpstr>Arial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Team_Farmex_Idea.pdf</dc:title>
  <dc:creator>Momin Rifat</dc:creator>
  <cp:lastModifiedBy>momin</cp:lastModifiedBy>
  <cp:revision>9</cp:revision>
  <dcterms:created xsi:type="dcterms:W3CDTF">2006-08-16T00:00:00Z</dcterms:created>
  <dcterms:modified xsi:type="dcterms:W3CDTF">2026-05-17T07:05:28Z</dcterms:modified>
  <dc:identifier>DAHCjD3mfbw</dc:identifier>
</cp:coreProperties>
</file>